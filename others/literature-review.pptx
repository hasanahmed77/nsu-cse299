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12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9E2980-201C-48DA-A186-EC6207B690BB}" v="311" dt="2026-03-08T19:34:05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95F51-BED8-4B04-B300-8DF017B8AA01}" type="datetimeFigureOut"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7A84D-8B70-4D9C-9B70-818FF8FE8E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219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Tanim Ahmed (2312597042)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Mustakim Ahmed Hasan (2421349042)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MD. Nafiz Al Mamun (2232050642)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Ahamed Osman Asif (2031080642)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7A84D-8B70-4D9C-9B70-818FF8FE8EBA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48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Tanim Ahmed (2312597042)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Mustakim Ahmed Hasan (2421349042)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MD. Nafiz Al Mamun (2232050642)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Ahamed Osman Asif (2031080642)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7A84D-8B70-4D9C-9B70-818FF8FE8EBA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34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Tanim Ahmed (2312597042)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Mustakim Ahmed Hasan (2421349042)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MD. Nafiz Al Mamun (2232050642)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Ahamed Osman Asif (2031080642)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7A84D-8B70-4D9C-9B70-818FF8FE8EBA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7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Tanim Ahmed (2312597042)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Mustakim Ahmed Hasan (2421349042)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MD. Nafiz Al Mamun (2232050642)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Ahamed Osman Asif (2031080642)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7A84D-8B70-4D9C-9B70-818FF8FE8EBA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85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Tanim Ahmed (2312597042)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Mustakim Ahmed Hasan (2421349042)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MD. Nafiz Al Mamun (2232050642)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Ahamed Osman Asif (2031080642)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7A84D-8B70-4D9C-9B70-818FF8FE8EBA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71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Tanim Ahmed (2312597042)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Mustakim Ahmed Hasan (2421349042)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MD. Nafiz Al Mamun (2232050642)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Ahamed Osman Asif (2031080642)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7A84D-8B70-4D9C-9B70-818FF8FE8EBA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27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Tanim Ahmed (2312597042)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Mustakim Ahmed Hasan (2421349042)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MD. Nafiz Al Mamun (2232050642)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Ahamed Osman Asif (2031080642)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7A84D-8B70-4D9C-9B70-818FF8FE8EBA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149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Tanim Ahmed (2312597042)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Mustakim Ahmed Hasan (2421349042)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MD. Nafiz Al Mamun (2232050642)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Ahamed Osman Asif (2031080642)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7A84D-8B70-4D9C-9B70-818FF8FE8EBA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46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Tanim Ahmed (2312597042)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Mustakim Ahmed Hasan (2421349042)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MD. Nafiz Al Mamun (2232050642)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Ahamed Osman Asif (2031080642)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7A84D-8B70-4D9C-9B70-818FF8FE8EBA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0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Tanim Ahmed (2312597042)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Mustakim Ahmed Hasan (2421349042)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MD. Nafiz Al Mamun (2232050642)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Ahamed Osman Asif (2031080642)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7A84D-8B70-4D9C-9B70-818FF8FE8EBA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55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95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608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96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144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04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1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6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712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05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679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Stars and stars in space&#10;&#10;AI-generated content may be incorrect.">
            <a:extLst>
              <a:ext uri="{FF2B5EF4-FFF2-40B4-BE49-F238E27FC236}">
                <a16:creationId xmlns:a16="http://schemas.microsoft.com/office/drawing/2014/main" id="{D1B168A0-C94A-13AA-7992-3CD57EB9B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9855" b="1514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0DF37D3-C7CC-8C48-39D3-17E231CE7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74" y="-265939"/>
            <a:ext cx="4023360" cy="28022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/>
                <a:cs typeface="Times New Roman"/>
              </a:rPr>
              <a:t>CLOUD BASED MOVIE STREAMING PLATFORM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BB737C-9BE9-421A-E0DE-49F18B7F18FC}"/>
              </a:ext>
            </a:extLst>
          </p:cNvPr>
          <p:cNvSpPr txBox="1"/>
          <p:nvPr/>
        </p:nvSpPr>
        <p:spPr>
          <a:xfrm>
            <a:off x="562053" y="3750739"/>
            <a:ext cx="6758818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Tanim Ahmed (2312597042)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Mustakim Ahmed Hasan (2421349042)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MD. Nafiz Al Mamun (2232050642)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Ahamed Osman Asif (2031080642)</a:t>
            </a:r>
          </a:p>
          <a:p>
            <a:endParaRPr lang="en-US" sz="28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l"/>
            <a:endParaRPr lang="en-US" sz="28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3158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3E871C-DBD5-1470-C8CA-D20FE4F8A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845" y="-1041748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endParaRPr lang="en-US" sz="4100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endParaRPr lang="en-US" sz="410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US" sz="4100">
                <a:latin typeface="Times New Roman"/>
                <a:cs typeface="Times New Roman"/>
              </a:rPr>
              <a:t>ABSTRACT</a:t>
            </a: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sX0" fmla="*/ 0 w 3931920"/>
              <a:gd name="csY0" fmla="*/ 0 h 27432"/>
              <a:gd name="csX1" fmla="*/ 733958 w 3931920"/>
              <a:gd name="csY1" fmla="*/ 0 h 27432"/>
              <a:gd name="csX2" fmla="*/ 1428598 w 3931920"/>
              <a:gd name="csY2" fmla="*/ 0 h 27432"/>
              <a:gd name="csX3" fmla="*/ 2123237 w 3931920"/>
              <a:gd name="csY3" fmla="*/ 0 h 27432"/>
              <a:gd name="csX4" fmla="*/ 2660599 w 3931920"/>
              <a:gd name="csY4" fmla="*/ 0 h 27432"/>
              <a:gd name="csX5" fmla="*/ 3237281 w 3931920"/>
              <a:gd name="csY5" fmla="*/ 0 h 27432"/>
              <a:gd name="csX6" fmla="*/ 3931920 w 3931920"/>
              <a:gd name="csY6" fmla="*/ 0 h 27432"/>
              <a:gd name="csX7" fmla="*/ 3931920 w 3931920"/>
              <a:gd name="csY7" fmla="*/ 27432 h 27432"/>
              <a:gd name="csX8" fmla="*/ 3276600 w 3931920"/>
              <a:gd name="csY8" fmla="*/ 27432 h 27432"/>
              <a:gd name="csX9" fmla="*/ 2739238 w 3931920"/>
              <a:gd name="csY9" fmla="*/ 27432 h 27432"/>
              <a:gd name="csX10" fmla="*/ 2201875 w 3931920"/>
              <a:gd name="csY10" fmla="*/ 27432 h 27432"/>
              <a:gd name="csX11" fmla="*/ 1507236 w 3931920"/>
              <a:gd name="csY11" fmla="*/ 27432 h 27432"/>
              <a:gd name="csX12" fmla="*/ 930554 w 3931920"/>
              <a:gd name="csY12" fmla="*/ 27432 h 27432"/>
              <a:gd name="csX13" fmla="*/ 0 w 3931920"/>
              <a:gd name="csY13" fmla="*/ 27432 h 27432"/>
              <a:gd name="csX14" fmla="*/ 0 w 3931920"/>
              <a:gd name="csY14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DF6F52"/>
          </a:solidFill>
          <a:ln w="38100" cap="rnd">
            <a:solidFill>
              <a:srgbClr val="DF6F5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CE1A2-24BC-9518-B3D7-5417ED2D5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062" y="1033510"/>
            <a:ext cx="4243589" cy="332066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Online video streaming is one of the most popular forms of digital media consumption.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Modern streaming platforms require </a:t>
            </a:r>
            <a:r>
              <a:rPr lang="en-US" sz="1800" b="1" dirty="0">
                <a:latin typeface="Times New Roman"/>
                <a:ea typeface="+mn-lt"/>
                <a:cs typeface="Times New Roman"/>
              </a:rPr>
              <a:t>scalable backend services, adaptive video delivery, and cloud deployment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.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This project develops a </a:t>
            </a:r>
            <a:r>
              <a:rPr lang="en-US" sz="1800" b="1" dirty="0">
                <a:latin typeface="Times New Roman"/>
                <a:ea typeface="+mn-lt"/>
                <a:cs typeface="Times New Roman"/>
              </a:rPr>
              <a:t>cloud-based movie streaming platform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inspired by Netflix and Amazon Prime Video.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Built using </a:t>
            </a:r>
            <a:r>
              <a:rPr lang="en-US" sz="1800" b="1" dirty="0">
                <a:latin typeface="Times New Roman"/>
                <a:ea typeface="+mn-lt"/>
                <a:cs typeface="Times New Roman"/>
              </a:rPr>
              <a:t>Next.js (Frontend), </a:t>
            </a:r>
            <a:r>
              <a:rPr lang="en-US" sz="1800" b="1" err="1">
                <a:latin typeface="Times New Roman"/>
                <a:ea typeface="+mn-lt"/>
                <a:cs typeface="Times New Roman"/>
              </a:rPr>
              <a:t>FastAPI</a:t>
            </a:r>
            <a:r>
              <a:rPr lang="en-US" sz="1800" b="1" dirty="0">
                <a:latin typeface="Times New Roman"/>
                <a:ea typeface="+mn-lt"/>
                <a:cs typeface="Times New Roman"/>
              </a:rPr>
              <a:t> (Backend), PostgreSQL (Database), and </a:t>
            </a:r>
            <a:r>
              <a:rPr lang="en-US" sz="1800" b="1" err="1">
                <a:latin typeface="Times New Roman"/>
                <a:ea typeface="+mn-lt"/>
                <a:cs typeface="Times New Roman"/>
              </a:rPr>
              <a:t>Supabase</a:t>
            </a:r>
            <a:r>
              <a:rPr lang="en-US" sz="1800" b="1" dirty="0">
                <a:latin typeface="Times New Roman"/>
                <a:ea typeface="+mn-lt"/>
                <a:cs typeface="Times New Roman"/>
              </a:rPr>
              <a:t> Storage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.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Supports </a:t>
            </a:r>
            <a:r>
              <a:rPr lang="en-US" sz="1800" b="1" dirty="0">
                <a:latin typeface="Times New Roman"/>
                <a:ea typeface="+mn-lt"/>
                <a:cs typeface="Times New Roman"/>
              </a:rPr>
              <a:t>secure authentication, movie browsing, search, HLS streaming, watch history, and trending logic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.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Demonstrates a </a:t>
            </a:r>
            <a:r>
              <a:rPr lang="en-US" sz="1800" b="1" dirty="0">
                <a:latin typeface="Times New Roman"/>
                <a:ea typeface="+mn-lt"/>
                <a:cs typeface="Times New Roman"/>
              </a:rPr>
              <a:t>scalable full-stack cloud architecture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similar to real-world streaming platforms.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1100">
              <a:latin typeface="Times New Roman"/>
              <a:cs typeface="Times New Roman"/>
            </a:endParaRP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775EAF9-ABBC-D1CD-58C6-E6897184CF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964" b="20238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07347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0B0DC-7C95-4839-2A10-5293B3F16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7200">
                <a:latin typeface="Times New Roman"/>
                <a:ea typeface="+mj-lt"/>
                <a:cs typeface="Times New Roman"/>
              </a:rPr>
              <a:t>Introduction</a:t>
            </a:r>
            <a:endParaRPr lang="en-US" sz="7200">
              <a:latin typeface="Times New Roman"/>
              <a:cs typeface="Times New Roman"/>
            </a:endParaRPr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6072" y="1817073"/>
            <a:ext cx="11018520" cy="18288"/>
          </a:xfrm>
          <a:custGeom>
            <a:avLst/>
            <a:gdLst>
              <a:gd name="csX0" fmla="*/ 0 w 11018520"/>
              <a:gd name="csY0" fmla="*/ 0 h 18288"/>
              <a:gd name="csX1" fmla="*/ 468287 w 11018520"/>
              <a:gd name="csY1" fmla="*/ 0 h 18288"/>
              <a:gd name="csX2" fmla="*/ 1156945 w 11018520"/>
              <a:gd name="csY2" fmla="*/ 0 h 18288"/>
              <a:gd name="csX3" fmla="*/ 1955787 w 11018520"/>
              <a:gd name="csY3" fmla="*/ 0 h 18288"/>
              <a:gd name="csX4" fmla="*/ 2313889 w 11018520"/>
              <a:gd name="csY4" fmla="*/ 0 h 18288"/>
              <a:gd name="csX5" fmla="*/ 2671991 w 11018520"/>
              <a:gd name="csY5" fmla="*/ 0 h 18288"/>
              <a:gd name="csX6" fmla="*/ 3581019 w 11018520"/>
              <a:gd name="csY6" fmla="*/ 0 h 18288"/>
              <a:gd name="csX7" fmla="*/ 4269677 w 11018520"/>
              <a:gd name="csY7" fmla="*/ 0 h 18288"/>
              <a:gd name="csX8" fmla="*/ 4627778 w 11018520"/>
              <a:gd name="csY8" fmla="*/ 0 h 18288"/>
              <a:gd name="csX9" fmla="*/ 5316436 w 11018520"/>
              <a:gd name="csY9" fmla="*/ 0 h 18288"/>
              <a:gd name="csX10" fmla="*/ 6225464 w 11018520"/>
              <a:gd name="csY10" fmla="*/ 0 h 18288"/>
              <a:gd name="csX11" fmla="*/ 6803936 w 11018520"/>
              <a:gd name="csY11" fmla="*/ 0 h 18288"/>
              <a:gd name="csX12" fmla="*/ 7382408 w 11018520"/>
              <a:gd name="csY12" fmla="*/ 0 h 18288"/>
              <a:gd name="csX13" fmla="*/ 8071066 w 11018520"/>
              <a:gd name="csY13" fmla="*/ 0 h 18288"/>
              <a:gd name="csX14" fmla="*/ 8869909 w 11018520"/>
              <a:gd name="csY14" fmla="*/ 0 h 18288"/>
              <a:gd name="csX15" fmla="*/ 9668751 w 11018520"/>
              <a:gd name="csY15" fmla="*/ 0 h 18288"/>
              <a:gd name="csX16" fmla="*/ 11018520 w 11018520"/>
              <a:gd name="csY16" fmla="*/ 0 h 18288"/>
              <a:gd name="csX17" fmla="*/ 11018520 w 11018520"/>
              <a:gd name="csY17" fmla="*/ 18288 h 18288"/>
              <a:gd name="csX18" fmla="*/ 10550233 w 11018520"/>
              <a:gd name="csY18" fmla="*/ 18288 h 18288"/>
              <a:gd name="csX19" fmla="*/ 9641205 w 11018520"/>
              <a:gd name="csY19" fmla="*/ 18288 h 18288"/>
              <a:gd name="csX20" fmla="*/ 8952548 w 11018520"/>
              <a:gd name="csY20" fmla="*/ 18288 h 18288"/>
              <a:gd name="csX21" fmla="*/ 8594446 w 11018520"/>
              <a:gd name="csY21" fmla="*/ 18288 h 18288"/>
              <a:gd name="csX22" fmla="*/ 7905788 w 11018520"/>
              <a:gd name="csY22" fmla="*/ 18288 h 18288"/>
              <a:gd name="csX23" fmla="*/ 7327316 w 11018520"/>
              <a:gd name="csY23" fmla="*/ 18288 h 18288"/>
              <a:gd name="csX24" fmla="*/ 6748844 w 11018520"/>
              <a:gd name="csY24" fmla="*/ 18288 h 18288"/>
              <a:gd name="csX25" fmla="*/ 6170371 w 11018520"/>
              <a:gd name="csY25" fmla="*/ 18288 h 18288"/>
              <a:gd name="csX26" fmla="*/ 5591899 w 11018520"/>
              <a:gd name="csY26" fmla="*/ 18288 h 18288"/>
              <a:gd name="csX27" fmla="*/ 4793056 w 11018520"/>
              <a:gd name="csY27" fmla="*/ 18288 h 18288"/>
              <a:gd name="csX28" fmla="*/ 4104399 w 11018520"/>
              <a:gd name="csY28" fmla="*/ 18288 h 18288"/>
              <a:gd name="csX29" fmla="*/ 3746297 w 11018520"/>
              <a:gd name="csY29" fmla="*/ 18288 h 18288"/>
              <a:gd name="csX30" fmla="*/ 3167825 w 11018520"/>
              <a:gd name="csY30" fmla="*/ 18288 h 18288"/>
              <a:gd name="csX31" fmla="*/ 2368982 w 11018520"/>
              <a:gd name="csY31" fmla="*/ 18288 h 18288"/>
              <a:gd name="csX32" fmla="*/ 1900695 w 11018520"/>
              <a:gd name="csY32" fmla="*/ 18288 h 18288"/>
              <a:gd name="csX33" fmla="*/ 991667 w 11018520"/>
              <a:gd name="csY33" fmla="*/ 18288 h 18288"/>
              <a:gd name="csX34" fmla="*/ 0 w 11018520"/>
              <a:gd name="csY34" fmla="*/ 18288 h 18288"/>
              <a:gd name="csX35" fmla="*/ 0 w 11018520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1018520" h="18288" fill="none" extrusionOk="0">
                <a:moveTo>
                  <a:pt x="0" y="0"/>
                </a:moveTo>
                <a:cubicBezTo>
                  <a:pt x="176840" y="19448"/>
                  <a:pt x="369510" y="1686"/>
                  <a:pt x="468287" y="0"/>
                </a:cubicBezTo>
                <a:cubicBezTo>
                  <a:pt x="567064" y="-1686"/>
                  <a:pt x="844925" y="28710"/>
                  <a:pt x="1156945" y="0"/>
                </a:cubicBezTo>
                <a:cubicBezTo>
                  <a:pt x="1468965" y="-28710"/>
                  <a:pt x="1755775" y="35306"/>
                  <a:pt x="1955787" y="0"/>
                </a:cubicBezTo>
                <a:cubicBezTo>
                  <a:pt x="2155799" y="-35306"/>
                  <a:pt x="2224532" y="-16632"/>
                  <a:pt x="2313889" y="0"/>
                </a:cubicBezTo>
                <a:cubicBezTo>
                  <a:pt x="2403246" y="16632"/>
                  <a:pt x="2494050" y="6083"/>
                  <a:pt x="2671991" y="0"/>
                </a:cubicBezTo>
                <a:cubicBezTo>
                  <a:pt x="2849932" y="-6083"/>
                  <a:pt x="3354152" y="34614"/>
                  <a:pt x="3581019" y="0"/>
                </a:cubicBezTo>
                <a:cubicBezTo>
                  <a:pt x="3807886" y="-34614"/>
                  <a:pt x="4022451" y="14254"/>
                  <a:pt x="4269677" y="0"/>
                </a:cubicBezTo>
                <a:cubicBezTo>
                  <a:pt x="4516903" y="-14254"/>
                  <a:pt x="4514495" y="-13291"/>
                  <a:pt x="4627778" y="0"/>
                </a:cubicBezTo>
                <a:cubicBezTo>
                  <a:pt x="4741061" y="13291"/>
                  <a:pt x="5120758" y="-22660"/>
                  <a:pt x="5316436" y="0"/>
                </a:cubicBezTo>
                <a:cubicBezTo>
                  <a:pt x="5512114" y="22660"/>
                  <a:pt x="5812155" y="-9513"/>
                  <a:pt x="6225464" y="0"/>
                </a:cubicBezTo>
                <a:cubicBezTo>
                  <a:pt x="6638773" y="9513"/>
                  <a:pt x="6545417" y="2479"/>
                  <a:pt x="6803936" y="0"/>
                </a:cubicBezTo>
                <a:cubicBezTo>
                  <a:pt x="7062455" y="-2479"/>
                  <a:pt x="7245098" y="-20209"/>
                  <a:pt x="7382408" y="0"/>
                </a:cubicBezTo>
                <a:cubicBezTo>
                  <a:pt x="7519718" y="20209"/>
                  <a:pt x="7801947" y="19736"/>
                  <a:pt x="8071066" y="0"/>
                </a:cubicBezTo>
                <a:cubicBezTo>
                  <a:pt x="8340185" y="-19736"/>
                  <a:pt x="8495312" y="-6666"/>
                  <a:pt x="8869909" y="0"/>
                </a:cubicBezTo>
                <a:cubicBezTo>
                  <a:pt x="9244506" y="6666"/>
                  <a:pt x="9501461" y="-13745"/>
                  <a:pt x="9668751" y="0"/>
                </a:cubicBezTo>
                <a:cubicBezTo>
                  <a:pt x="9836041" y="13745"/>
                  <a:pt x="10607605" y="14143"/>
                  <a:pt x="11018520" y="0"/>
                </a:cubicBezTo>
                <a:cubicBezTo>
                  <a:pt x="11019166" y="4451"/>
                  <a:pt x="11019010" y="9226"/>
                  <a:pt x="11018520" y="18288"/>
                </a:cubicBezTo>
                <a:cubicBezTo>
                  <a:pt x="10834966" y="15274"/>
                  <a:pt x="10754561" y="35250"/>
                  <a:pt x="10550233" y="18288"/>
                </a:cubicBezTo>
                <a:cubicBezTo>
                  <a:pt x="10345905" y="1326"/>
                  <a:pt x="9906342" y="45884"/>
                  <a:pt x="9641205" y="18288"/>
                </a:cubicBezTo>
                <a:cubicBezTo>
                  <a:pt x="9376068" y="-9308"/>
                  <a:pt x="9177188" y="43988"/>
                  <a:pt x="8952548" y="18288"/>
                </a:cubicBezTo>
                <a:cubicBezTo>
                  <a:pt x="8727908" y="-7412"/>
                  <a:pt x="8707007" y="3271"/>
                  <a:pt x="8594446" y="18288"/>
                </a:cubicBezTo>
                <a:cubicBezTo>
                  <a:pt x="8481885" y="33305"/>
                  <a:pt x="8175004" y="35109"/>
                  <a:pt x="7905788" y="18288"/>
                </a:cubicBezTo>
                <a:cubicBezTo>
                  <a:pt x="7636572" y="1467"/>
                  <a:pt x="7535638" y="7399"/>
                  <a:pt x="7327316" y="18288"/>
                </a:cubicBezTo>
                <a:cubicBezTo>
                  <a:pt x="7118994" y="29177"/>
                  <a:pt x="6978247" y="47205"/>
                  <a:pt x="6748844" y="18288"/>
                </a:cubicBezTo>
                <a:cubicBezTo>
                  <a:pt x="6519441" y="-10629"/>
                  <a:pt x="6459241" y="43308"/>
                  <a:pt x="6170371" y="18288"/>
                </a:cubicBezTo>
                <a:cubicBezTo>
                  <a:pt x="5881501" y="-6732"/>
                  <a:pt x="5736201" y="35971"/>
                  <a:pt x="5591899" y="18288"/>
                </a:cubicBezTo>
                <a:cubicBezTo>
                  <a:pt x="5447597" y="605"/>
                  <a:pt x="4990303" y="20409"/>
                  <a:pt x="4793056" y="18288"/>
                </a:cubicBezTo>
                <a:cubicBezTo>
                  <a:pt x="4595809" y="16167"/>
                  <a:pt x="4271723" y="2909"/>
                  <a:pt x="4104399" y="18288"/>
                </a:cubicBezTo>
                <a:cubicBezTo>
                  <a:pt x="3937075" y="33667"/>
                  <a:pt x="3923235" y="10730"/>
                  <a:pt x="3746297" y="18288"/>
                </a:cubicBezTo>
                <a:cubicBezTo>
                  <a:pt x="3569359" y="25846"/>
                  <a:pt x="3351081" y="24702"/>
                  <a:pt x="3167825" y="18288"/>
                </a:cubicBezTo>
                <a:cubicBezTo>
                  <a:pt x="2984569" y="11874"/>
                  <a:pt x="2708033" y="13293"/>
                  <a:pt x="2368982" y="18288"/>
                </a:cubicBezTo>
                <a:cubicBezTo>
                  <a:pt x="2029931" y="23283"/>
                  <a:pt x="2009060" y="37671"/>
                  <a:pt x="1900695" y="18288"/>
                </a:cubicBezTo>
                <a:cubicBezTo>
                  <a:pt x="1792330" y="-1095"/>
                  <a:pt x="1183178" y="9337"/>
                  <a:pt x="991667" y="18288"/>
                </a:cubicBezTo>
                <a:cubicBezTo>
                  <a:pt x="800156" y="27239"/>
                  <a:pt x="375690" y="34110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1018520" h="18288" stroke="0" extrusionOk="0">
                <a:moveTo>
                  <a:pt x="0" y="0"/>
                </a:moveTo>
                <a:cubicBezTo>
                  <a:pt x="266588" y="-23405"/>
                  <a:pt x="350503" y="-27031"/>
                  <a:pt x="578472" y="0"/>
                </a:cubicBezTo>
                <a:cubicBezTo>
                  <a:pt x="806441" y="27031"/>
                  <a:pt x="803976" y="13604"/>
                  <a:pt x="936574" y="0"/>
                </a:cubicBezTo>
                <a:cubicBezTo>
                  <a:pt x="1069172" y="-13604"/>
                  <a:pt x="1661335" y="-31902"/>
                  <a:pt x="1845602" y="0"/>
                </a:cubicBezTo>
                <a:cubicBezTo>
                  <a:pt x="2029869" y="31902"/>
                  <a:pt x="2273452" y="17005"/>
                  <a:pt x="2424074" y="0"/>
                </a:cubicBezTo>
                <a:cubicBezTo>
                  <a:pt x="2574696" y="-17005"/>
                  <a:pt x="2790864" y="-28133"/>
                  <a:pt x="3002547" y="0"/>
                </a:cubicBezTo>
                <a:cubicBezTo>
                  <a:pt x="3214230" y="28133"/>
                  <a:pt x="3605033" y="-14934"/>
                  <a:pt x="3911575" y="0"/>
                </a:cubicBezTo>
                <a:cubicBezTo>
                  <a:pt x="4218117" y="14934"/>
                  <a:pt x="4198004" y="3604"/>
                  <a:pt x="4379862" y="0"/>
                </a:cubicBezTo>
                <a:cubicBezTo>
                  <a:pt x="4561720" y="-3604"/>
                  <a:pt x="4941151" y="-37368"/>
                  <a:pt x="5288890" y="0"/>
                </a:cubicBezTo>
                <a:cubicBezTo>
                  <a:pt x="5636629" y="37368"/>
                  <a:pt x="6011513" y="-33898"/>
                  <a:pt x="6197918" y="0"/>
                </a:cubicBezTo>
                <a:cubicBezTo>
                  <a:pt x="6384323" y="33898"/>
                  <a:pt x="6555799" y="11241"/>
                  <a:pt x="6886575" y="0"/>
                </a:cubicBezTo>
                <a:cubicBezTo>
                  <a:pt x="7217351" y="-11241"/>
                  <a:pt x="7604472" y="-44614"/>
                  <a:pt x="7795603" y="0"/>
                </a:cubicBezTo>
                <a:cubicBezTo>
                  <a:pt x="7986734" y="44614"/>
                  <a:pt x="8098870" y="-11086"/>
                  <a:pt x="8374075" y="0"/>
                </a:cubicBezTo>
                <a:cubicBezTo>
                  <a:pt x="8649280" y="11086"/>
                  <a:pt x="8701749" y="-25020"/>
                  <a:pt x="8952548" y="0"/>
                </a:cubicBezTo>
                <a:cubicBezTo>
                  <a:pt x="9203347" y="25020"/>
                  <a:pt x="9519297" y="4274"/>
                  <a:pt x="9751390" y="0"/>
                </a:cubicBezTo>
                <a:cubicBezTo>
                  <a:pt x="9983483" y="-4274"/>
                  <a:pt x="10169881" y="16480"/>
                  <a:pt x="10329863" y="0"/>
                </a:cubicBezTo>
                <a:cubicBezTo>
                  <a:pt x="10489845" y="-16480"/>
                  <a:pt x="10750941" y="-9727"/>
                  <a:pt x="11018520" y="0"/>
                </a:cubicBezTo>
                <a:cubicBezTo>
                  <a:pt x="11018113" y="8690"/>
                  <a:pt x="11018366" y="14141"/>
                  <a:pt x="11018520" y="18288"/>
                </a:cubicBezTo>
                <a:cubicBezTo>
                  <a:pt x="10841176" y="-3597"/>
                  <a:pt x="10399304" y="41504"/>
                  <a:pt x="10219677" y="18288"/>
                </a:cubicBezTo>
                <a:cubicBezTo>
                  <a:pt x="10040050" y="-4928"/>
                  <a:pt x="10030762" y="16144"/>
                  <a:pt x="9861575" y="18288"/>
                </a:cubicBezTo>
                <a:cubicBezTo>
                  <a:pt x="9692388" y="20432"/>
                  <a:pt x="9529439" y="40380"/>
                  <a:pt x="9393288" y="18288"/>
                </a:cubicBezTo>
                <a:cubicBezTo>
                  <a:pt x="9257137" y="-3804"/>
                  <a:pt x="8825003" y="25592"/>
                  <a:pt x="8484260" y="18288"/>
                </a:cubicBezTo>
                <a:cubicBezTo>
                  <a:pt x="8143517" y="10984"/>
                  <a:pt x="8082894" y="45968"/>
                  <a:pt x="7795603" y="18288"/>
                </a:cubicBezTo>
                <a:cubicBezTo>
                  <a:pt x="7508312" y="-9392"/>
                  <a:pt x="7466074" y="19486"/>
                  <a:pt x="7327316" y="18288"/>
                </a:cubicBezTo>
                <a:cubicBezTo>
                  <a:pt x="7188558" y="17090"/>
                  <a:pt x="6869645" y="4657"/>
                  <a:pt x="6638658" y="18288"/>
                </a:cubicBezTo>
                <a:cubicBezTo>
                  <a:pt x="6407671" y="31919"/>
                  <a:pt x="6359238" y="35967"/>
                  <a:pt x="6280556" y="18288"/>
                </a:cubicBezTo>
                <a:cubicBezTo>
                  <a:pt x="6201874" y="609"/>
                  <a:pt x="6041216" y="22404"/>
                  <a:pt x="5922455" y="18288"/>
                </a:cubicBezTo>
                <a:cubicBezTo>
                  <a:pt x="5803694" y="14172"/>
                  <a:pt x="5555521" y="48848"/>
                  <a:pt x="5233797" y="18288"/>
                </a:cubicBezTo>
                <a:cubicBezTo>
                  <a:pt x="4912073" y="-12272"/>
                  <a:pt x="4986440" y="-2740"/>
                  <a:pt x="4765510" y="18288"/>
                </a:cubicBezTo>
                <a:cubicBezTo>
                  <a:pt x="4544580" y="39316"/>
                  <a:pt x="4177715" y="18248"/>
                  <a:pt x="3966667" y="18288"/>
                </a:cubicBezTo>
                <a:cubicBezTo>
                  <a:pt x="3755619" y="18328"/>
                  <a:pt x="3664519" y="22387"/>
                  <a:pt x="3498380" y="18288"/>
                </a:cubicBezTo>
                <a:cubicBezTo>
                  <a:pt x="3332241" y="14189"/>
                  <a:pt x="3065858" y="-7524"/>
                  <a:pt x="2699537" y="18288"/>
                </a:cubicBezTo>
                <a:cubicBezTo>
                  <a:pt x="2333216" y="44100"/>
                  <a:pt x="2505666" y="4650"/>
                  <a:pt x="2341436" y="18288"/>
                </a:cubicBezTo>
                <a:cubicBezTo>
                  <a:pt x="2177206" y="31926"/>
                  <a:pt x="1790164" y="19880"/>
                  <a:pt x="1542593" y="18288"/>
                </a:cubicBezTo>
                <a:cubicBezTo>
                  <a:pt x="1295022" y="16696"/>
                  <a:pt x="1218012" y="39325"/>
                  <a:pt x="1074306" y="18288"/>
                </a:cubicBezTo>
                <a:cubicBezTo>
                  <a:pt x="930600" y="-2749"/>
                  <a:pt x="797266" y="24589"/>
                  <a:pt x="716204" y="18288"/>
                </a:cubicBezTo>
                <a:cubicBezTo>
                  <a:pt x="635142" y="11987"/>
                  <a:pt x="344503" y="4139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rgbClr val="C6517D"/>
          </a:solidFill>
          <a:ln w="38100" cap="rnd">
            <a:solidFill>
              <a:srgbClr val="C6517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2AF35-4402-8FCB-D3D0-157B2083A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>
                <a:latin typeface="Times New Roman"/>
                <a:ea typeface="+mn-lt"/>
                <a:cs typeface="Times New Roman"/>
              </a:rPr>
              <a:t>Streaming platforms require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secure authentication, adaptive media delivery, and scalable infrastructure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000">
                <a:latin typeface="Times New Roman"/>
                <a:ea typeface="+mn-lt"/>
                <a:cs typeface="Times New Roman"/>
              </a:rPr>
              <a:t>Many academic web projects focus only on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basic CRUD operations</a:t>
            </a:r>
            <a:r>
              <a:rPr lang="en-US" sz="2000">
                <a:latin typeface="Times New Roman"/>
                <a:ea typeface="+mn-lt"/>
                <a:cs typeface="Times New Roman"/>
              </a:rPr>
              <a:t>, lacking real-world complexity.</a:t>
            </a:r>
            <a:endParaRPr lang="en-US"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000">
                <a:latin typeface="Times New Roman"/>
                <a:ea typeface="+mn-lt"/>
                <a:cs typeface="Times New Roman"/>
              </a:rPr>
              <a:t>This project builds a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simplified yet realistic movie streaming system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000">
                <a:latin typeface="Times New Roman"/>
                <a:ea typeface="+mn-lt"/>
                <a:cs typeface="Times New Roman"/>
              </a:rPr>
              <a:t>Integrates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Next.js frontend with </a:t>
            </a:r>
            <a:r>
              <a:rPr lang="en-US" sz="2000" b="1" err="1">
                <a:latin typeface="Times New Roman"/>
                <a:ea typeface="+mn-lt"/>
                <a:cs typeface="Times New Roman"/>
              </a:rPr>
              <a:t>FastAPI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 backend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000">
                <a:latin typeface="Times New Roman"/>
                <a:ea typeface="+mn-lt"/>
                <a:cs typeface="Times New Roman"/>
              </a:rPr>
              <a:t>Implements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HLS streaming, movie browsing, authentication, and watch history tracking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000">
                <a:latin typeface="Times New Roman"/>
                <a:ea typeface="+mn-lt"/>
                <a:cs typeface="Times New Roman"/>
              </a:rPr>
              <a:t>Goal: Provide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hands-on experience with modern full-stack cloud architecture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2000">
              <a:latin typeface="Times New Roman"/>
              <a:cs typeface="Times New Roman"/>
            </a:endParaRPr>
          </a:p>
        </p:txBody>
      </p:sp>
      <p:pic>
        <p:nvPicPr>
          <p:cNvPr id="4" name="Picture 3" descr="A hand holding a remote control&#10;&#10;AI-generated content may be incorrect.">
            <a:extLst>
              <a:ext uri="{FF2B5EF4-FFF2-40B4-BE49-F238E27FC236}">
                <a16:creationId xmlns:a16="http://schemas.microsoft.com/office/drawing/2014/main" id="{37B262A5-B319-B142-DCA0-929A045D13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21" r="29343" b="-1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78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0843F-0AA3-9B5F-6EB7-625FB1B55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600">
                <a:latin typeface="Times New Roman"/>
                <a:ea typeface="+mj-lt"/>
                <a:cs typeface="Times New Roman"/>
              </a:rPr>
              <a:t>Literature Review</a:t>
            </a:r>
            <a:endParaRPr lang="en-US" sz="6600">
              <a:latin typeface="Times New Roman"/>
              <a:cs typeface="Times New Roman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sX0" fmla="*/ 0 w 3931920"/>
              <a:gd name="csY0" fmla="*/ 0 h 27432"/>
              <a:gd name="csX1" fmla="*/ 733958 w 3931920"/>
              <a:gd name="csY1" fmla="*/ 0 h 27432"/>
              <a:gd name="csX2" fmla="*/ 1428598 w 3931920"/>
              <a:gd name="csY2" fmla="*/ 0 h 27432"/>
              <a:gd name="csX3" fmla="*/ 2123237 w 3931920"/>
              <a:gd name="csY3" fmla="*/ 0 h 27432"/>
              <a:gd name="csX4" fmla="*/ 2660599 w 3931920"/>
              <a:gd name="csY4" fmla="*/ 0 h 27432"/>
              <a:gd name="csX5" fmla="*/ 3237281 w 3931920"/>
              <a:gd name="csY5" fmla="*/ 0 h 27432"/>
              <a:gd name="csX6" fmla="*/ 3931920 w 3931920"/>
              <a:gd name="csY6" fmla="*/ 0 h 27432"/>
              <a:gd name="csX7" fmla="*/ 3931920 w 3931920"/>
              <a:gd name="csY7" fmla="*/ 27432 h 27432"/>
              <a:gd name="csX8" fmla="*/ 3276600 w 3931920"/>
              <a:gd name="csY8" fmla="*/ 27432 h 27432"/>
              <a:gd name="csX9" fmla="*/ 2739238 w 3931920"/>
              <a:gd name="csY9" fmla="*/ 27432 h 27432"/>
              <a:gd name="csX10" fmla="*/ 2201875 w 3931920"/>
              <a:gd name="csY10" fmla="*/ 27432 h 27432"/>
              <a:gd name="csX11" fmla="*/ 1507236 w 3931920"/>
              <a:gd name="csY11" fmla="*/ 27432 h 27432"/>
              <a:gd name="csX12" fmla="*/ 930554 w 3931920"/>
              <a:gd name="csY12" fmla="*/ 27432 h 27432"/>
              <a:gd name="csX13" fmla="*/ 0 w 3931920"/>
              <a:gd name="csY13" fmla="*/ 27432 h 27432"/>
              <a:gd name="csX14" fmla="*/ 0 w 3931920"/>
              <a:gd name="csY14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757BFD"/>
          </a:solidFill>
          <a:ln w="38100" cap="rnd">
            <a:solidFill>
              <a:srgbClr val="757BF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57FCF-629D-088C-AC2E-40210F933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dirty="0">
                <a:latin typeface="Times New Roman"/>
                <a:ea typeface="+mn-lt"/>
                <a:cs typeface="Times New Roman"/>
              </a:rPr>
              <a:t>Modern streaming services use </a:t>
            </a:r>
            <a:r>
              <a:rPr lang="en-US" sz="1200" b="1" dirty="0">
                <a:latin typeface="Times New Roman"/>
                <a:ea typeface="+mn-lt"/>
                <a:cs typeface="Times New Roman"/>
              </a:rPr>
              <a:t>distributed cloud architectures</a:t>
            </a:r>
            <a:r>
              <a:rPr lang="en-US" sz="1200" dirty="0">
                <a:latin typeface="Times New Roman"/>
                <a:ea typeface="+mn-lt"/>
                <a:cs typeface="Times New Roman"/>
              </a:rPr>
              <a:t> to deliver media at scale.</a:t>
            </a:r>
            <a:endParaRPr lang="en-US"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latin typeface="Times New Roman"/>
                <a:ea typeface="+mn-lt"/>
                <a:cs typeface="Times New Roman"/>
              </a:rPr>
              <a:t>Cloud computing enables </a:t>
            </a:r>
            <a:r>
              <a:rPr lang="en-US" sz="1200" b="1" dirty="0">
                <a:latin typeface="Times New Roman"/>
                <a:ea typeface="+mn-lt"/>
                <a:cs typeface="Times New Roman"/>
              </a:rPr>
              <a:t>dynamic resource scaling based on user demand</a:t>
            </a:r>
            <a:r>
              <a:rPr lang="en-US" sz="1200" dirty="0">
                <a:latin typeface="Times New Roman"/>
                <a:ea typeface="+mn-lt"/>
                <a:cs typeface="Times New Roman"/>
              </a:rPr>
              <a:t> (Armbrust et al.).</a:t>
            </a:r>
            <a:endParaRPr lang="en-US"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latin typeface="Times New Roman"/>
                <a:ea typeface="+mn-lt"/>
                <a:cs typeface="Times New Roman"/>
              </a:rPr>
              <a:t>Many platforms use </a:t>
            </a:r>
            <a:r>
              <a:rPr lang="en-US" sz="1200" b="1" dirty="0">
                <a:latin typeface="Times New Roman"/>
                <a:ea typeface="+mn-lt"/>
                <a:cs typeface="Times New Roman"/>
              </a:rPr>
              <a:t>microservice-based architectures</a:t>
            </a:r>
            <a:r>
              <a:rPr lang="en-US" sz="1200" dirty="0">
                <a:latin typeface="Times New Roman"/>
                <a:ea typeface="+mn-lt"/>
                <a:cs typeface="Times New Roman"/>
              </a:rPr>
              <a:t> to separate frontend and backend services.</a:t>
            </a:r>
            <a:endParaRPr lang="en-US"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200" b="1" dirty="0">
                <a:latin typeface="Times New Roman"/>
                <a:ea typeface="+mn-lt"/>
                <a:cs typeface="Times New Roman"/>
              </a:rPr>
              <a:t>HTTP Live Streaming (HLS)</a:t>
            </a:r>
            <a:r>
              <a:rPr lang="en-US" sz="1200" dirty="0">
                <a:latin typeface="Times New Roman"/>
                <a:ea typeface="+mn-lt"/>
                <a:cs typeface="Times New Roman"/>
              </a:rPr>
              <a:t> enables adaptive video delivery by segmenting video files.</a:t>
            </a:r>
            <a:endParaRPr lang="en-US"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latin typeface="Times New Roman"/>
                <a:ea typeface="+mn-lt"/>
                <a:cs typeface="Times New Roman"/>
              </a:rPr>
              <a:t>Adaptive streaming </a:t>
            </a:r>
            <a:r>
              <a:rPr lang="en-US" sz="1200" b="1" dirty="0">
                <a:latin typeface="Times New Roman"/>
                <a:ea typeface="+mn-lt"/>
                <a:cs typeface="Times New Roman"/>
              </a:rPr>
              <a:t>reduces buffering and adjusts video quality based on bandwidth</a:t>
            </a:r>
            <a:r>
              <a:rPr lang="en-US" sz="1200" dirty="0">
                <a:latin typeface="Times New Roman"/>
                <a:ea typeface="+mn-lt"/>
                <a:cs typeface="Times New Roman"/>
              </a:rPr>
              <a:t>.</a:t>
            </a:r>
            <a:endParaRPr lang="en-US"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latin typeface="Times New Roman"/>
                <a:ea typeface="+mn-lt"/>
                <a:cs typeface="Times New Roman"/>
              </a:rPr>
              <a:t>Streaming platforms enhance user experience through </a:t>
            </a:r>
            <a:r>
              <a:rPr lang="en-US" sz="1200" b="1" dirty="0">
                <a:latin typeface="Times New Roman"/>
                <a:ea typeface="+mn-lt"/>
                <a:cs typeface="Times New Roman"/>
              </a:rPr>
              <a:t>search systems, watch-history tracking, and trending algorithms</a:t>
            </a:r>
            <a:r>
              <a:rPr lang="en-US" sz="1200" dirty="0">
                <a:latin typeface="Times New Roman"/>
                <a:ea typeface="+mn-lt"/>
                <a:cs typeface="Times New Roman"/>
              </a:rPr>
              <a:t>.</a:t>
            </a:r>
            <a:endParaRPr lang="en-US"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latin typeface="Times New Roman"/>
                <a:ea typeface="+mn-lt"/>
                <a:cs typeface="Times New Roman"/>
              </a:rPr>
              <a:t>Few academic implementations focus on </a:t>
            </a:r>
            <a:r>
              <a:rPr lang="en-US" sz="1200" b="1" dirty="0">
                <a:latin typeface="Times New Roman"/>
                <a:ea typeface="+mn-lt"/>
                <a:cs typeface="Times New Roman"/>
              </a:rPr>
              <a:t>simplified educational versions of real streaming architectures</a:t>
            </a:r>
            <a:r>
              <a:rPr lang="en-US" sz="1200" dirty="0">
                <a:latin typeface="Times New Roman"/>
                <a:ea typeface="+mn-lt"/>
                <a:cs typeface="Times New Roman"/>
              </a:rPr>
              <a:t>.</a:t>
            </a:r>
            <a:endParaRPr lang="en-US"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1100">
              <a:latin typeface="Times New Roman"/>
              <a:cs typeface="Times New Roman"/>
            </a:endParaRP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845014A-D719-3FFC-19FC-C0BD2F371D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745" r="22852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28551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8F5FB-87F0-07B0-5552-13961BDEC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600">
                <a:latin typeface="Times New Roman"/>
                <a:ea typeface="+mj-lt"/>
                <a:cs typeface="Times New Roman"/>
              </a:rPr>
              <a:t>Problem Statement </a:t>
            </a:r>
            <a:endParaRPr lang="en-US" sz="6600">
              <a:latin typeface="Times New Roman"/>
              <a:cs typeface="Times New Roman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sX0" fmla="*/ 0 w 3931920"/>
              <a:gd name="csY0" fmla="*/ 0 h 27432"/>
              <a:gd name="csX1" fmla="*/ 733958 w 3931920"/>
              <a:gd name="csY1" fmla="*/ 0 h 27432"/>
              <a:gd name="csX2" fmla="*/ 1428598 w 3931920"/>
              <a:gd name="csY2" fmla="*/ 0 h 27432"/>
              <a:gd name="csX3" fmla="*/ 2123237 w 3931920"/>
              <a:gd name="csY3" fmla="*/ 0 h 27432"/>
              <a:gd name="csX4" fmla="*/ 2660599 w 3931920"/>
              <a:gd name="csY4" fmla="*/ 0 h 27432"/>
              <a:gd name="csX5" fmla="*/ 3237281 w 3931920"/>
              <a:gd name="csY5" fmla="*/ 0 h 27432"/>
              <a:gd name="csX6" fmla="*/ 3931920 w 3931920"/>
              <a:gd name="csY6" fmla="*/ 0 h 27432"/>
              <a:gd name="csX7" fmla="*/ 3931920 w 3931920"/>
              <a:gd name="csY7" fmla="*/ 27432 h 27432"/>
              <a:gd name="csX8" fmla="*/ 3276600 w 3931920"/>
              <a:gd name="csY8" fmla="*/ 27432 h 27432"/>
              <a:gd name="csX9" fmla="*/ 2739238 w 3931920"/>
              <a:gd name="csY9" fmla="*/ 27432 h 27432"/>
              <a:gd name="csX10" fmla="*/ 2201875 w 3931920"/>
              <a:gd name="csY10" fmla="*/ 27432 h 27432"/>
              <a:gd name="csX11" fmla="*/ 1507236 w 3931920"/>
              <a:gd name="csY11" fmla="*/ 27432 h 27432"/>
              <a:gd name="csX12" fmla="*/ 930554 w 3931920"/>
              <a:gd name="csY12" fmla="*/ 27432 h 27432"/>
              <a:gd name="csX13" fmla="*/ 0 w 3931920"/>
              <a:gd name="csY13" fmla="*/ 27432 h 27432"/>
              <a:gd name="csX14" fmla="*/ 0 w 3931920"/>
              <a:gd name="csY14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E4EA42"/>
          </a:solidFill>
          <a:ln w="38100" cap="rnd">
            <a:solidFill>
              <a:srgbClr val="E4EA4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4F9B8-E1D1-A0E2-0600-8496C51F3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Users often require 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multiple subscriptions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to access different streaming platforms.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Many academic projects lack 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realistic streaming system architecture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.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Typical classroom applications miss key components such as: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Secure token-based authentication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Adaptive video streaming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Scalable cloud deployment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Proper frontend–backend separation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This project develops a 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centralized streaming platform with realistic architecture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.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1600" dirty="0">
              <a:latin typeface="Times New Roman"/>
              <a:cs typeface="Times New Roman"/>
            </a:endParaRPr>
          </a:p>
        </p:txBody>
      </p:sp>
      <p:pic>
        <p:nvPicPr>
          <p:cNvPr id="4" name="Picture 3" descr="A screen shot of a television&#10;&#10;AI-generated content may be incorrect.">
            <a:extLst>
              <a:ext uri="{FF2B5EF4-FFF2-40B4-BE49-F238E27FC236}">
                <a16:creationId xmlns:a16="http://schemas.microsoft.com/office/drawing/2014/main" id="{A412013A-2DB6-4ABC-D6E2-BD878558A4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553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52608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E10B0-C4F1-779D-8925-0DAEF6294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556" y="-245355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6100">
                <a:latin typeface="Times New Roman"/>
                <a:ea typeface="+mj-lt"/>
                <a:cs typeface="Times New Roman"/>
              </a:rPr>
              <a:t>System Architecture </a:t>
            </a:r>
            <a:endParaRPr lang="en-US" sz="6100">
              <a:latin typeface="Times New Roman"/>
              <a:cs typeface="Times New Roman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sX0" fmla="*/ 0 w 3931920"/>
              <a:gd name="csY0" fmla="*/ 0 h 27432"/>
              <a:gd name="csX1" fmla="*/ 733958 w 3931920"/>
              <a:gd name="csY1" fmla="*/ 0 h 27432"/>
              <a:gd name="csX2" fmla="*/ 1428598 w 3931920"/>
              <a:gd name="csY2" fmla="*/ 0 h 27432"/>
              <a:gd name="csX3" fmla="*/ 2123237 w 3931920"/>
              <a:gd name="csY3" fmla="*/ 0 h 27432"/>
              <a:gd name="csX4" fmla="*/ 2660599 w 3931920"/>
              <a:gd name="csY4" fmla="*/ 0 h 27432"/>
              <a:gd name="csX5" fmla="*/ 3237281 w 3931920"/>
              <a:gd name="csY5" fmla="*/ 0 h 27432"/>
              <a:gd name="csX6" fmla="*/ 3931920 w 3931920"/>
              <a:gd name="csY6" fmla="*/ 0 h 27432"/>
              <a:gd name="csX7" fmla="*/ 3931920 w 3931920"/>
              <a:gd name="csY7" fmla="*/ 27432 h 27432"/>
              <a:gd name="csX8" fmla="*/ 3276600 w 3931920"/>
              <a:gd name="csY8" fmla="*/ 27432 h 27432"/>
              <a:gd name="csX9" fmla="*/ 2739238 w 3931920"/>
              <a:gd name="csY9" fmla="*/ 27432 h 27432"/>
              <a:gd name="csX10" fmla="*/ 2201875 w 3931920"/>
              <a:gd name="csY10" fmla="*/ 27432 h 27432"/>
              <a:gd name="csX11" fmla="*/ 1507236 w 3931920"/>
              <a:gd name="csY11" fmla="*/ 27432 h 27432"/>
              <a:gd name="csX12" fmla="*/ 930554 w 3931920"/>
              <a:gd name="csY12" fmla="*/ 27432 h 27432"/>
              <a:gd name="csX13" fmla="*/ 0 w 3931920"/>
              <a:gd name="csY13" fmla="*/ 27432 h 27432"/>
              <a:gd name="csX14" fmla="*/ 0 w 3931920"/>
              <a:gd name="csY14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FCFC4B"/>
          </a:solidFill>
          <a:ln w="38100" cap="rnd">
            <a:solidFill>
              <a:srgbClr val="FCFC4B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056EA-21BE-06EA-B3F0-A5B35322A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819" y="1867943"/>
            <a:ext cx="4243589" cy="332066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latin typeface="Times New Roman"/>
                <a:ea typeface="+mn-lt"/>
                <a:cs typeface="Times New Roman"/>
              </a:rPr>
              <a:t>Three-layer architecture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/>
                <a:ea typeface="+mn-lt"/>
                <a:cs typeface="Times New Roman"/>
              </a:rPr>
              <a:t>Presentation Layer</a:t>
            </a:r>
            <a:endParaRPr lang="en-US" sz="16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Built using 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Next.js + TypeScript</a:t>
            </a:r>
            <a:endParaRPr lang="en-US" sz="16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Responsive UI with 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Tailwind CSS</a:t>
            </a:r>
            <a:endParaRPr lang="en-US" sz="16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Video playback using 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HLS.js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/>
                <a:ea typeface="+mn-lt"/>
                <a:cs typeface="Times New Roman"/>
              </a:rPr>
              <a:t>Service Layer</a:t>
            </a:r>
            <a:endParaRPr lang="en-US" sz="16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Backend developed using </a:t>
            </a:r>
            <a:r>
              <a:rPr lang="en-US" sz="1600" b="1" dirty="0" err="1">
                <a:latin typeface="Times New Roman"/>
                <a:ea typeface="+mn-lt"/>
                <a:cs typeface="Times New Roman"/>
              </a:rPr>
              <a:t>FastAPI</a:t>
            </a:r>
            <a:endParaRPr lang="en-US" sz="16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REST APIs for authentication, movie retrieval, and watch history</a:t>
            </a:r>
            <a:endParaRPr lang="en-US" sz="16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Modular backend services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/>
                <a:ea typeface="+mn-lt"/>
                <a:cs typeface="Times New Roman"/>
              </a:rPr>
              <a:t>Data Layer</a:t>
            </a:r>
            <a:endParaRPr lang="en-US" sz="16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</a:pPr>
            <a:r>
              <a:rPr lang="en-US" sz="1600" b="1" dirty="0">
                <a:latin typeface="Times New Roman"/>
                <a:ea typeface="+mn-lt"/>
                <a:cs typeface="Times New Roman"/>
              </a:rPr>
              <a:t>PostgreSQL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for user and movie data</a:t>
            </a:r>
            <a:endParaRPr lang="en-US" sz="16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</a:pPr>
            <a:r>
              <a:rPr lang="en-US" sz="1600" b="1" dirty="0" err="1">
                <a:latin typeface="Times New Roman"/>
                <a:ea typeface="+mn-lt"/>
                <a:cs typeface="Times New Roman"/>
              </a:rPr>
              <a:t>Supabase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 Storage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for media files</a:t>
            </a:r>
            <a:endParaRPr lang="en-US" sz="16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HLS playlists and video segments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1600" dirty="0">
              <a:latin typeface="Times New Roman"/>
              <a:cs typeface="Times New Roman"/>
            </a:endParaRP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8BD65536-56B3-87C3-F9CE-67554A395B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145" b="-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72088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oup of logos on a blue background&#10;&#10;AI-generated content may be incorrect.">
            <a:extLst>
              <a:ext uri="{FF2B5EF4-FFF2-40B4-BE49-F238E27FC236}">
                <a16:creationId xmlns:a16="http://schemas.microsoft.com/office/drawing/2014/main" id="{C509E61A-208B-A51F-95E7-65BC1FFD05F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l="133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55C3E-8D34-CBB9-30A9-3B81F1B4F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>
                <a:latin typeface="Times New Roman"/>
                <a:cs typeface="Times New Roman"/>
              </a:rPr>
              <a:t>Implementation Challenges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1CA8A97F-67F0-4D5F-A850-0C30727D1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578" y="1802192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F6EF1-4126-FCDC-A9A5-760C35761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b="1">
                <a:latin typeface="Times New Roman"/>
                <a:ea typeface="+mn-lt"/>
                <a:cs typeface="Times New Roman"/>
              </a:rPr>
              <a:t>Git repository issues</a:t>
            </a:r>
            <a:r>
              <a:rPr lang="en-US" sz="1800">
                <a:latin typeface="Times New Roman"/>
                <a:ea typeface="+mn-lt"/>
                <a:cs typeface="Times New Roman"/>
              </a:rPr>
              <a:t> caused by large binary files</a:t>
            </a:r>
            <a:endParaRPr lang="en-US"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800" b="1">
                <a:latin typeface="Times New Roman"/>
                <a:ea typeface="+mn-lt"/>
                <a:cs typeface="Times New Roman"/>
              </a:rPr>
              <a:t>Backend deployment errors</a:t>
            </a:r>
            <a:r>
              <a:rPr lang="en-US" sz="1800">
                <a:latin typeface="Times New Roman"/>
                <a:ea typeface="+mn-lt"/>
                <a:cs typeface="Times New Roman"/>
              </a:rPr>
              <a:t> (routing conflicts, entry-point mismatches)</a:t>
            </a:r>
            <a:endParaRPr lang="en-US"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800" b="1">
                <a:latin typeface="Times New Roman"/>
                <a:ea typeface="+mn-lt"/>
                <a:cs typeface="Times New Roman"/>
              </a:rPr>
              <a:t>Database connectivity problems</a:t>
            </a:r>
            <a:r>
              <a:rPr lang="en-US" sz="1800">
                <a:latin typeface="Times New Roman"/>
                <a:ea typeface="+mn-lt"/>
                <a:cs typeface="Times New Roman"/>
              </a:rPr>
              <a:t> with PostgreSQL SSL configuration</a:t>
            </a:r>
            <a:endParaRPr lang="en-US"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800" b="1">
                <a:latin typeface="Times New Roman"/>
                <a:ea typeface="+mn-lt"/>
                <a:cs typeface="Times New Roman"/>
              </a:rPr>
              <a:t>Frontend build failures</a:t>
            </a:r>
            <a:r>
              <a:rPr lang="en-US" sz="1800">
                <a:latin typeface="Times New Roman"/>
                <a:ea typeface="+mn-lt"/>
                <a:cs typeface="Times New Roman"/>
              </a:rPr>
              <a:t> due to TypeScript errors</a:t>
            </a:r>
            <a:endParaRPr lang="en-US"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800" b="1">
                <a:latin typeface="Times New Roman"/>
                <a:ea typeface="+mn-lt"/>
                <a:cs typeface="Times New Roman"/>
              </a:rPr>
              <a:t>Authentication state management issues</a:t>
            </a:r>
            <a:endParaRPr lang="en-US" sz="1800"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>
                <a:latin typeface="Times New Roman"/>
                <a:ea typeface="+mn-lt"/>
                <a:cs typeface="Times New Roman"/>
              </a:rPr>
              <a:t>Solutions included:</a:t>
            </a:r>
            <a:endParaRPr lang="en-US"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800">
                <a:latin typeface="Times New Roman"/>
                <a:ea typeface="+mn-lt"/>
                <a:cs typeface="Times New Roman"/>
              </a:rPr>
              <a:t>Cloud storage for media assets</a:t>
            </a:r>
            <a:endParaRPr lang="en-US"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800">
                <a:latin typeface="Times New Roman"/>
                <a:ea typeface="+mn-lt"/>
                <a:cs typeface="Times New Roman"/>
              </a:rPr>
              <a:t>Backend routing restructuring</a:t>
            </a:r>
            <a:endParaRPr lang="en-US"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800">
                <a:latin typeface="Times New Roman"/>
                <a:ea typeface="+mn-lt"/>
                <a:cs typeface="Times New Roman"/>
              </a:rPr>
              <a:t>Stable database configuration</a:t>
            </a:r>
            <a:endParaRPr lang="en-US"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800">
                <a:latin typeface="Times New Roman"/>
                <a:ea typeface="+mn-lt"/>
                <a:cs typeface="Times New Roman"/>
              </a:rPr>
              <a:t>Improved API response typing</a:t>
            </a:r>
            <a:endParaRPr lang="en-US"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1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76492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6C7A73-8BC5-C601-5E91-08EA2F5D4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6800">
                <a:solidFill>
                  <a:schemeClr val="bg1"/>
                </a:solidFill>
                <a:latin typeface="Times New Roman"/>
                <a:cs typeface="Times New Roman"/>
              </a:rPr>
              <a:t>Expected Outcomes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FD80F63-9084-CE36-723E-C7962EF4B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Fully functional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cloud-based movie streaming web application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Features include: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User authentication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Movie browsing and search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Adaptive HLS streaming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Watch history tracking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Trending movie logic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Scalable architecture enabling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future enhancements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like recommendation systems.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6603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D67202-DB0B-7908-0EEA-F0195EF19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6600">
                <a:latin typeface="Times New Roman"/>
                <a:ea typeface="+mj-lt"/>
                <a:cs typeface="Times New Roman"/>
              </a:rPr>
              <a:t>Conclusion </a:t>
            </a:r>
            <a:endParaRPr lang="en-US" sz="6600">
              <a:latin typeface="Times New Roman"/>
              <a:cs typeface="Times New Roman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sX0" fmla="*/ 0 w 3931920"/>
              <a:gd name="csY0" fmla="*/ 0 h 27432"/>
              <a:gd name="csX1" fmla="*/ 733958 w 3931920"/>
              <a:gd name="csY1" fmla="*/ 0 h 27432"/>
              <a:gd name="csX2" fmla="*/ 1428598 w 3931920"/>
              <a:gd name="csY2" fmla="*/ 0 h 27432"/>
              <a:gd name="csX3" fmla="*/ 2123237 w 3931920"/>
              <a:gd name="csY3" fmla="*/ 0 h 27432"/>
              <a:gd name="csX4" fmla="*/ 2660599 w 3931920"/>
              <a:gd name="csY4" fmla="*/ 0 h 27432"/>
              <a:gd name="csX5" fmla="*/ 3237281 w 3931920"/>
              <a:gd name="csY5" fmla="*/ 0 h 27432"/>
              <a:gd name="csX6" fmla="*/ 3931920 w 3931920"/>
              <a:gd name="csY6" fmla="*/ 0 h 27432"/>
              <a:gd name="csX7" fmla="*/ 3931920 w 3931920"/>
              <a:gd name="csY7" fmla="*/ 27432 h 27432"/>
              <a:gd name="csX8" fmla="*/ 3276600 w 3931920"/>
              <a:gd name="csY8" fmla="*/ 27432 h 27432"/>
              <a:gd name="csX9" fmla="*/ 2739238 w 3931920"/>
              <a:gd name="csY9" fmla="*/ 27432 h 27432"/>
              <a:gd name="csX10" fmla="*/ 2201875 w 3931920"/>
              <a:gd name="csY10" fmla="*/ 27432 h 27432"/>
              <a:gd name="csX11" fmla="*/ 1507236 w 3931920"/>
              <a:gd name="csY11" fmla="*/ 27432 h 27432"/>
              <a:gd name="csX12" fmla="*/ 930554 w 3931920"/>
              <a:gd name="csY12" fmla="*/ 27432 h 27432"/>
              <a:gd name="csX13" fmla="*/ 0 w 3931920"/>
              <a:gd name="csY13" fmla="*/ 27432 h 27432"/>
              <a:gd name="csX14" fmla="*/ 0 w 3931920"/>
              <a:gd name="csY14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57E1FF"/>
          </a:solidFill>
          <a:ln w="38100" cap="rnd">
            <a:solidFill>
              <a:srgbClr val="57E1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4F51-3D10-76AB-61A1-293061B2E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500">
                <a:latin typeface="Times New Roman"/>
                <a:ea typeface="+mn-lt"/>
                <a:cs typeface="Times New Roman"/>
              </a:rPr>
              <a:t>Developed a </a:t>
            </a:r>
            <a:r>
              <a:rPr lang="en-US" sz="1500" b="1">
                <a:latin typeface="Times New Roman"/>
                <a:ea typeface="+mn-lt"/>
                <a:cs typeface="Times New Roman"/>
              </a:rPr>
              <a:t>cloud-based movie streaming platform using modern technologies</a:t>
            </a:r>
            <a:r>
              <a:rPr lang="en-US" sz="1500">
                <a:latin typeface="Times New Roman"/>
                <a:ea typeface="+mn-lt"/>
                <a:cs typeface="Times New Roman"/>
              </a:rPr>
              <a:t>.</a:t>
            </a:r>
            <a:endParaRPr lang="en-US"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500">
                <a:latin typeface="Times New Roman"/>
                <a:ea typeface="+mn-lt"/>
                <a:cs typeface="Times New Roman"/>
              </a:rPr>
              <a:t>Implemented </a:t>
            </a:r>
            <a:r>
              <a:rPr lang="en-US" sz="1500" b="1">
                <a:latin typeface="Times New Roman"/>
                <a:ea typeface="+mn-lt"/>
                <a:cs typeface="Times New Roman"/>
              </a:rPr>
              <a:t>secure authentication, adaptive streaming, and scalable APIs</a:t>
            </a:r>
            <a:r>
              <a:rPr lang="en-US" sz="1500">
                <a:latin typeface="Times New Roman"/>
                <a:ea typeface="+mn-lt"/>
                <a:cs typeface="Times New Roman"/>
              </a:rPr>
              <a:t>.</a:t>
            </a:r>
            <a:endParaRPr lang="en-US"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500">
                <a:latin typeface="Times New Roman"/>
                <a:ea typeface="+mn-lt"/>
                <a:cs typeface="Times New Roman"/>
              </a:rPr>
              <a:t>Addressed several </a:t>
            </a:r>
            <a:r>
              <a:rPr lang="en-US" sz="1500" b="1">
                <a:latin typeface="Times New Roman"/>
                <a:ea typeface="+mn-lt"/>
                <a:cs typeface="Times New Roman"/>
              </a:rPr>
              <a:t>deployment and infrastructure challenges</a:t>
            </a:r>
            <a:r>
              <a:rPr lang="en-US" sz="1500">
                <a:latin typeface="Times New Roman"/>
                <a:ea typeface="+mn-lt"/>
                <a:cs typeface="Times New Roman"/>
              </a:rPr>
              <a:t>.</a:t>
            </a:r>
            <a:endParaRPr lang="en-US"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500">
                <a:latin typeface="Times New Roman"/>
                <a:ea typeface="+mn-lt"/>
                <a:cs typeface="Times New Roman"/>
              </a:rPr>
              <a:t>Successfully demonstrated </a:t>
            </a:r>
            <a:r>
              <a:rPr lang="en-US" sz="1500" b="1">
                <a:latin typeface="Times New Roman"/>
                <a:ea typeface="+mn-lt"/>
                <a:cs typeface="Times New Roman"/>
              </a:rPr>
              <a:t>real-world streaming platform architecture</a:t>
            </a:r>
            <a:r>
              <a:rPr lang="en-US" sz="1500">
                <a:latin typeface="Times New Roman"/>
                <a:ea typeface="+mn-lt"/>
                <a:cs typeface="Times New Roman"/>
              </a:rPr>
              <a:t> in an academic project.</a:t>
            </a:r>
            <a:endParaRPr lang="en-US"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500">
                <a:latin typeface="Times New Roman"/>
                <a:ea typeface="+mn-lt"/>
                <a:cs typeface="Times New Roman"/>
              </a:rPr>
              <a:t>Future improvements include </a:t>
            </a:r>
            <a:r>
              <a:rPr lang="en-US" sz="1500" b="1">
                <a:latin typeface="Times New Roman"/>
                <a:ea typeface="+mn-lt"/>
                <a:cs typeface="Times New Roman"/>
              </a:rPr>
              <a:t>recommendation systems, analytics, and search optimization</a:t>
            </a:r>
            <a:r>
              <a:rPr lang="en-US" sz="1500">
                <a:latin typeface="Times New Roman"/>
                <a:ea typeface="+mn-lt"/>
                <a:cs typeface="Times New Roman"/>
              </a:rPr>
              <a:t>.</a:t>
            </a:r>
            <a:endParaRPr lang="en-US"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1500">
              <a:latin typeface="Times New Roman"/>
              <a:cs typeface="Times New Roman"/>
            </a:endParaRPr>
          </a:p>
        </p:txBody>
      </p:sp>
      <p:pic>
        <p:nvPicPr>
          <p:cNvPr id="4" name="Picture 3" descr="A close up of a phone&#10;&#10;AI-generated content may be incorrect.">
            <a:extLst>
              <a:ext uri="{FF2B5EF4-FFF2-40B4-BE49-F238E27FC236}">
                <a16:creationId xmlns:a16="http://schemas.microsoft.com/office/drawing/2014/main" id="{BC0F24E4-CD28-5DF4-A53B-77B853A9ED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9" r="3345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10469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thank you sign on a blue background&#10;&#10;AI-generated content may be incorrect.">
            <a:extLst>
              <a:ext uri="{FF2B5EF4-FFF2-40B4-BE49-F238E27FC236}">
                <a16:creationId xmlns:a16="http://schemas.microsoft.com/office/drawing/2014/main" id="{E157C799-7813-1F6C-5B36-97B46A0D48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3540" r="3242"/>
          <a:stretch>
            <a:fillRect/>
          </a:stretch>
        </p:blipFill>
        <p:spPr>
          <a:xfrm>
            <a:off x="180279" y="161490"/>
            <a:ext cx="11827082" cy="6534092"/>
          </a:xfrm>
          <a:custGeom>
            <a:avLst/>
            <a:gdLst/>
            <a:ahLst/>
            <a:cxnLst/>
            <a:rect l="l" t="t" r="r" b="b"/>
            <a:pathLst>
              <a:path w="11827082" h="6534092">
                <a:moveTo>
                  <a:pt x="6610089" y="5"/>
                </a:moveTo>
                <a:cubicBezTo>
                  <a:pt x="6763993" y="-277"/>
                  <a:pt x="6862741" y="14300"/>
                  <a:pt x="6956523" y="21390"/>
                </a:cubicBezTo>
                <a:cubicBezTo>
                  <a:pt x="7271939" y="-12207"/>
                  <a:pt x="7581352" y="149"/>
                  <a:pt x="7768349" y="21390"/>
                </a:cubicBezTo>
                <a:lnTo>
                  <a:pt x="7831642" y="23688"/>
                </a:lnTo>
                <a:lnTo>
                  <a:pt x="7886307" y="21390"/>
                </a:lnTo>
                <a:cubicBezTo>
                  <a:pt x="7951978" y="17798"/>
                  <a:pt x="8007622" y="16567"/>
                  <a:pt x="8057445" y="16600"/>
                </a:cubicBezTo>
                <a:lnTo>
                  <a:pt x="8096254" y="17396"/>
                </a:lnTo>
                <a:lnTo>
                  <a:pt x="8199591" y="12947"/>
                </a:lnTo>
                <a:cubicBezTo>
                  <a:pt x="8247971" y="12558"/>
                  <a:pt x="8296272" y="14617"/>
                  <a:pt x="8344260" y="21390"/>
                </a:cubicBezTo>
                <a:lnTo>
                  <a:pt x="8355505" y="22738"/>
                </a:lnTo>
                <a:lnTo>
                  <a:pt x="8462217" y="21390"/>
                </a:lnTo>
                <a:cubicBezTo>
                  <a:pt x="8567700" y="16869"/>
                  <a:pt x="8666620" y="17239"/>
                  <a:pt x="8761697" y="18554"/>
                </a:cubicBezTo>
                <a:lnTo>
                  <a:pt x="8808871" y="19038"/>
                </a:lnTo>
                <a:lnTo>
                  <a:pt x="8941246" y="13930"/>
                </a:lnTo>
                <a:cubicBezTo>
                  <a:pt x="9040199" y="10800"/>
                  <a:pt x="9149474" y="10157"/>
                  <a:pt x="9260166" y="21390"/>
                </a:cubicBezTo>
                <a:lnTo>
                  <a:pt x="9339613" y="26448"/>
                </a:lnTo>
                <a:lnTo>
                  <a:pt x="9432845" y="28493"/>
                </a:lnTo>
                <a:cubicBezTo>
                  <a:pt x="9587011" y="31230"/>
                  <a:pt x="9744909" y="31599"/>
                  <a:pt x="9849954" y="21390"/>
                </a:cubicBezTo>
                <a:cubicBezTo>
                  <a:pt x="10060044" y="972"/>
                  <a:pt x="10204432" y="2657"/>
                  <a:pt x="10425865" y="21390"/>
                </a:cubicBezTo>
                <a:lnTo>
                  <a:pt x="10477895" y="25158"/>
                </a:lnTo>
                <a:lnTo>
                  <a:pt x="10566351" y="27751"/>
                </a:lnTo>
                <a:cubicBezTo>
                  <a:pt x="10727031" y="32755"/>
                  <a:pt x="10877889" y="35639"/>
                  <a:pt x="11001775" y="21390"/>
                </a:cubicBezTo>
                <a:cubicBezTo>
                  <a:pt x="11249546" y="-7108"/>
                  <a:pt x="11434553" y="12510"/>
                  <a:pt x="11813601" y="21390"/>
                </a:cubicBezTo>
                <a:cubicBezTo>
                  <a:pt x="11817928" y="208271"/>
                  <a:pt x="11818867" y="336567"/>
                  <a:pt x="11813601" y="475847"/>
                </a:cubicBezTo>
                <a:cubicBezTo>
                  <a:pt x="11808335" y="615127"/>
                  <a:pt x="11845853" y="1008651"/>
                  <a:pt x="11813601" y="1254916"/>
                </a:cubicBezTo>
                <a:cubicBezTo>
                  <a:pt x="11809570" y="1285699"/>
                  <a:pt x="11806768" y="1314174"/>
                  <a:pt x="11804923" y="1340777"/>
                </a:cubicBezTo>
                <a:lnTo>
                  <a:pt x="11803652" y="1373115"/>
                </a:lnTo>
                <a:lnTo>
                  <a:pt x="11804560" y="1395572"/>
                </a:lnTo>
                <a:cubicBezTo>
                  <a:pt x="11806656" y="1431340"/>
                  <a:pt x="11809600" y="1470662"/>
                  <a:pt x="11813601" y="1514605"/>
                </a:cubicBezTo>
                <a:cubicBezTo>
                  <a:pt x="11829606" y="1690380"/>
                  <a:pt x="11822955" y="1813845"/>
                  <a:pt x="11815628" y="1920902"/>
                </a:cubicBezTo>
                <a:lnTo>
                  <a:pt x="11811346" y="1995660"/>
                </a:lnTo>
                <a:lnTo>
                  <a:pt x="11813868" y="2104640"/>
                </a:lnTo>
                <a:lnTo>
                  <a:pt x="11817197" y="2264365"/>
                </a:lnTo>
                <a:lnTo>
                  <a:pt x="11821465" y="2306631"/>
                </a:lnTo>
                <a:cubicBezTo>
                  <a:pt x="11835170" y="2477814"/>
                  <a:pt x="11818400" y="2578773"/>
                  <a:pt x="11813601" y="2683208"/>
                </a:cubicBezTo>
                <a:cubicBezTo>
                  <a:pt x="11809487" y="2772725"/>
                  <a:pt x="11816027" y="2930030"/>
                  <a:pt x="11816192" y="3070653"/>
                </a:cubicBezTo>
                <a:lnTo>
                  <a:pt x="11813610" y="3202145"/>
                </a:lnTo>
                <a:lnTo>
                  <a:pt x="11813601" y="3267510"/>
                </a:lnTo>
                <a:cubicBezTo>
                  <a:pt x="11811419" y="3587194"/>
                  <a:pt x="11813535" y="3497122"/>
                  <a:pt x="11813601" y="3721967"/>
                </a:cubicBezTo>
                <a:cubicBezTo>
                  <a:pt x="11813617" y="3778178"/>
                  <a:pt x="11814293" y="3835214"/>
                  <a:pt x="11815131" y="3894088"/>
                </a:cubicBezTo>
                <a:lnTo>
                  <a:pt x="11816203" y="3972593"/>
                </a:lnTo>
                <a:lnTo>
                  <a:pt x="11816265" y="3973919"/>
                </a:lnTo>
                <a:cubicBezTo>
                  <a:pt x="11819902" y="4062998"/>
                  <a:pt x="11819694" y="4122248"/>
                  <a:pt x="11818174" y="4171327"/>
                </a:cubicBezTo>
                <a:lnTo>
                  <a:pt x="11817878" y="4178488"/>
                </a:lnTo>
                <a:lnTo>
                  <a:pt x="11818118" y="4277530"/>
                </a:lnTo>
                <a:cubicBezTo>
                  <a:pt x="11817612" y="4347824"/>
                  <a:pt x="11816272" y="4421987"/>
                  <a:pt x="11813601" y="4501036"/>
                </a:cubicBezTo>
                <a:cubicBezTo>
                  <a:pt x="11824398" y="4779554"/>
                  <a:pt x="11834923" y="4895505"/>
                  <a:pt x="11813601" y="5020415"/>
                </a:cubicBezTo>
                <a:cubicBezTo>
                  <a:pt x="11808270" y="5051643"/>
                  <a:pt x="11804885" y="5094410"/>
                  <a:pt x="11802984" y="5145366"/>
                </a:cubicBezTo>
                <a:lnTo>
                  <a:pt x="11802805" y="5153576"/>
                </a:lnTo>
                <a:lnTo>
                  <a:pt x="11813601" y="5280104"/>
                </a:lnTo>
                <a:cubicBezTo>
                  <a:pt x="11848339" y="5545832"/>
                  <a:pt x="11803810" y="5568088"/>
                  <a:pt x="11813601" y="5734561"/>
                </a:cubicBezTo>
                <a:cubicBezTo>
                  <a:pt x="11814825" y="5755370"/>
                  <a:pt x="11815354" y="5777180"/>
                  <a:pt x="11815391" y="5800160"/>
                </a:cubicBezTo>
                <a:lnTo>
                  <a:pt x="11814403" y="5861994"/>
                </a:lnTo>
                <a:lnTo>
                  <a:pt x="11814897" y="5940552"/>
                </a:lnTo>
                <a:cubicBezTo>
                  <a:pt x="11813455" y="6007961"/>
                  <a:pt x="11810716" y="6074118"/>
                  <a:pt x="11808410" y="6139030"/>
                </a:cubicBezTo>
                <a:lnTo>
                  <a:pt x="11805249" y="6294204"/>
                </a:lnTo>
                <a:lnTo>
                  <a:pt x="11806853" y="6377232"/>
                </a:lnTo>
                <a:lnTo>
                  <a:pt x="11813601" y="6513630"/>
                </a:lnTo>
                <a:cubicBezTo>
                  <a:pt x="11755932" y="6520071"/>
                  <a:pt x="11702085" y="6522123"/>
                  <a:pt x="11651008" y="6521869"/>
                </a:cubicBezTo>
                <a:lnTo>
                  <a:pt x="11606878" y="6520178"/>
                </a:lnTo>
                <a:lnTo>
                  <a:pt x="11480359" y="6526470"/>
                </a:lnTo>
                <a:cubicBezTo>
                  <a:pt x="11411497" y="6529079"/>
                  <a:pt x="11340067" y="6529281"/>
                  <a:pt x="11235913" y="6522672"/>
                </a:cubicBezTo>
                <a:lnTo>
                  <a:pt x="11167376" y="6517338"/>
                </a:lnTo>
                <a:lnTo>
                  <a:pt x="11118099" y="6519937"/>
                </a:lnTo>
                <a:cubicBezTo>
                  <a:pt x="11008080" y="6519923"/>
                  <a:pt x="10918905" y="6505169"/>
                  <a:pt x="10779737" y="6513630"/>
                </a:cubicBezTo>
                <a:lnTo>
                  <a:pt x="10756340" y="6513513"/>
                </a:lnTo>
                <a:lnTo>
                  <a:pt x="10748952" y="6514346"/>
                </a:lnTo>
                <a:cubicBezTo>
                  <a:pt x="10725838" y="6516206"/>
                  <a:pt x="10699773" y="6516641"/>
                  <a:pt x="10661780" y="6513630"/>
                </a:cubicBezTo>
                <a:lnTo>
                  <a:pt x="10643067" y="6512943"/>
                </a:lnTo>
                <a:lnTo>
                  <a:pt x="10627638" y="6512866"/>
                </a:lnTo>
                <a:lnTo>
                  <a:pt x="10598539" y="6511309"/>
                </a:lnTo>
                <a:lnTo>
                  <a:pt x="10590670" y="6511020"/>
                </a:lnTo>
                <a:cubicBezTo>
                  <a:pt x="10422654" y="6509230"/>
                  <a:pt x="10114537" y="6525711"/>
                  <a:pt x="9930443" y="6519069"/>
                </a:cubicBezTo>
                <a:lnTo>
                  <a:pt x="9908887" y="6517613"/>
                </a:lnTo>
                <a:lnTo>
                  <a:pt x="9697150" y="6531900"/>
                </a:lnTo>
                <a:cubicBezTo>
                  <a:pt x="9438634" y="6540253"/>
                  <a:pt x="9217380" y="6522684"/>
                  <a:pt x="9038128" y="6513630"/>
                </a:cubicBezTo>
                <a:lnTo>
                  <a:pt x="8901719" y="6509665"/>
                </a:lnTo>
                <a:lnTo>
                  <a:pt x="8766922" y="6512046"/>
                </a:lnTo>
                <a:cubicBezTo>
                  <a:pt x="8694433" y="6513288"/>
                  <a:pt x="8629372" y="6514112"/>
                  <a:pt x="8580175" y="6513630"/>
                </a:cubicBezTo>
                <a:lnTo>
                  <a:pt x="8571277" y="6513524"/>
                </a:lnTo>
                <a:lnTo>
                  <a:pt x="8462217" y="6513630"/>
                </a:lnTo>
                <a:cubicBezTo>
                  <a:pt x="8225188" y="6509968"/>
                  <a:pt x="7780127" y="6525503"/>
                  <a:pt x="7532434" y="6513630"/>
                </a:cubicBezTo>
                <a:lnTo>
                  <a:pt x="7448622" y="6511320"/>
                </a:lnTo>
                <a:lnTo>
                  <a:pt x="7428354" y="6513630"/>
                </a:lnTo>
                <a:cubicBezTo>
                  <a:pt x="7293248" y="6538560"/>
                  <a:pt x="7186080" y="6533261"/>
                  <a:pt x="7078782" y="6523679"/>
                </a:cubicBezTo>
                <a:lnTo>
                  <a:pt x="6973169" y="6513887"/>
                </a:lnTo>
                <a:lnTo>
                  <a:pt x="6954249" y="6514033"/>
                </a:lnTo>
                <a:cubicBezTo>
                  <a:pt x="6918701" y="6514123"/>
                  <a:pt x="6880374" y="6514018"/>
                  <a:pt x="6838566" y="6513630"/>
                </a:cubicBezTo>
                <a:lnTo>
                  <a:pt x="6790865" y="6514652"/>
                </a:lnTo>
                <a:lnTo>
                  <a:pt x="6717520" y="6518204"/>
                </a:lnTo>
                <a:lnTo>
                  <a:pt x="6690736" y="6516798"/>
                </a:lnTo>
                <a:lnTo>
                  <a:pt x="6604647" y="6518643"/>
                </a:lnTo>
                <a:cubicBezTo>
                  <a:pt x="6383546" y="6528740"/>
                  <a:pt x="6188571" y="6547337"/>
                  <a:pt x="5908782" y="6513630"/>
                </a:cubicBezTo>
                <a:lnTo>
                  <a:pt x="5827432" y="6506155"/>
                </a:lnTo>
                <a:lnTo>
                  <a:pt x="5818169" y="6505897"/>
                </a:lnTo>
                <a:cubicBezTo>
                  <a:pt x="5656134" y="6501940"/>
                  <a:pt x="5476891" y="6500561"/>
                  <a:pt x="5360626" y="6513630"/>
                </a:cubicBezTo>
                <a:cubicBezTo>
                  <a:pt x="5244362" y="6526700"/>
                  <a:pt x="5155294" y="6523407"/>
                  <a:pt x="5082581" y="6518492"/>
                </a:cubicBezTo>
                <a:lnTo>
                  <a:pt x="5011539" y="6513612"/>
                </a:lnTo>
                <a:lnTo>
                  <a:pt x="4978999" y="6513630"/>
                </a:lnTo>
                <a:lnTo>
                  <a:pt x="4947560" y="6512597"/>
                </a:lnTo>
                <a:lnTo>
                  <a:pt x="4902673" y="6513630"/>
                </a:lnTo>
                <a:cubicBezTo>
                  <a:pt x="4851834" y="6520217"/>
                  <a:pt x="4795188" y="6523001"/>
                  <a:pt x="4737076" y="6522747"/>
                </a:cubicBezTo>
                <a:lnTo>
                  <a:pt x="4649328" y="6518160"/>
                </a:lnTo>
                <a:lnTo>
                  <a:pt x="4624935" y="6519597"/>
                </a:lnTo>
                <a:cubicBezTo>
                  <a:pt x="4598495" y="6519851"/>
                  <a:pt x="4566987" y="6518389"/>
                  <a:pt x="4521046" y="6513630"/>
                </a:cubicBezTo>
                <a:lnTo>
                  <a:pt x="4456833" y="6510131"/>
                </a:lnTo>
                <a:lnTo>
                  <a:pt x="4343538" y="6512337"/>
                </a:lnTo>
                <a:cubicBezTo>
                  <a:pt x="4260681" y="6514690"/>
                  <a:pt x="4174545" y="6517475"/>
                  <a:pt x="4104725" y="6513630"/>
                </a:cubicBezTo>
                <a:cubicBezTo>
                  <a:pt x="3965085" y="6505941"/>
                  <a:pt x="3802107" y="6535988"/>
                  <a:pt x="3528815" y="6513630"/>
                </a:cubicBezTo>
                <a:lnTo>
                  <a:pt x="3407613" y="6504978"/>
                </a:lnTo>
                <a:lnTo>
                  <a:pt x="3251268" y="6513630"/>
                </a:lnTo>
                <a:cubicBezTo>
                  <a:pt x="3103602" y="6529652"/>
                  <a:pt x="3004932" y="6519904"/>
                  <a:pt x="2867035" y="6513929"/>
                </a:cubicBezTo>
                <a:lnTo>
                  <a:pt x="2840124" y="6513045"/>
                </a:lnTo>
                <a:lnTo>
                  <a:pt x="2834946" y="6513630"/>
                </a:lnTo>
                <a:cubicBezTo>
                  <a:pt x="2691933" y="6538293"/>
                  <a:pt x="2614008" y="6529004"/>
                  <a:pt x="2502859" y="6520536"/>
                </a:cubicBezTo>
                <a:lnTo>
                  <a:pt x="2442001" y="6517197"/>
                </a:lnTo>
                <a:lnTo>
                  <a:pt x="2438245" y="6517313"/>
                </a:lnTo>
                <a:cubicBezTo>
                  <a:pt x="2401807" y="6517985"/>
                  <a:pt x="2368299" y="6518156"/>
                  <a:pt x="2336678" y="6517988"/>
                </a:cubicBezTo>
                <a:lnTo>
                  <a:pt x="2185932" y="6514754"/>
                </a:lnTo>
                <a:lnTo>
                  <a:pt x="1960620" y="6520062"/>
                </a:lnTo>
                <a:cubicBezTo>
                  <a:pt x="1876521" y="6521810"/>
                  <a:pt x="1788378" y="6523022"/>
                  <a:pt x="1701155" y="6522387"/>
                </a:cubicBezTo>
                <a:lnTo>
                  <a:pt x="1589271" y="6518529"/>
                </a:lnTo>
                <a:lnTo>
                  <a:pt x="1539168" y="6519829"/>
                </a:lnTo>
                <a:cubicBezTo>
                  <a:pt x="1395291" y="6522782"/>
                  <a:pt x="1407110" y="6517174"/>
                  <a:pt x="1287620" y="6513630"/>
                </a:cubicBezTo>
                <a:cubicBezTo>
                  <a:pt x="1168131" y="6510087"/>
                  <a:pt x="1041230" y="6513238"/>
                  <a:pt x="932033" y="6514000"/>
                </a:cubicBezTo>
                <a:lnTo>
                  <a:pt x="918750" y="6513952"/>
                </a:lnTo>
                <a:lnTo>
                  <a:pt x="858917" y="6514806"/>
                </a:lnTo>
                <a:cubicBezTo>
                  <a:pt x="826932" y="6514879"/>
                  <a:pt x="792070" y="6514545"/>
                  <a:pt x="753341" y="6513630"/>
                </a:cubicBezTo>
                <a:cubicBezTo>
                  <a:pt x="443511" y="6506311"/>
                  <a:pt x="354936" y="6524642"/>
                  <a:pt x="17841" y="6513630"/>
                </a:cubicBezTo>
                <a:cubicBezTo>
                  <a:pt x="-956" y="6342673"/>
                  <a:pt x="-10467" y="6012653"/>
                  <a:pt x="17841" y="5799484"/>
                </a:cubicBezTo>
                <a:lnTo>
                  <a:pt x="19845" y="5756408"/>
                </a:lnTo>
                <a:lnTo>
                  <a:pt x="17841" y="5734561"/>
                </a:lnTo>
                <a:cubicBezTo>
                  <a:pt x="13149" y="5695472"/>
                  <a:pt x="12578" y="5648752"/>
                  <a:pt x="13918" y="5598323"/>
                </a:cubicBezTo>
                <a:lnTo>
                  <a:pt x="18180" y="5508699"/>
                </a:lnTo>
                <a:lnTo>
                  <a:pt x="16493" y="5477760"/>
                </a:lnTo>
                <a:cubicBezTo>
                  <a:pt x="8966" y="5369709"/>
                  <a:pt x="1889" y="5260695"/>
                  <a:pt x="17841" y="5150260"/>
                </a:cubicBezTo>
                <a:cubicBezTo>
                  <a:pt x="-3463" y="5038150"/>
                  <a:pt x="-2139" y="4857473"/>
                  <a:pt x="6850" y="4650409"/>
                </a:cubicBezTo>
                <a:lnTo>
                  <a:pt x="14633" y="4498670"/>
                </a:lnTo>
                <a:lnTo>
                  <a:pt x="14494" y="4495758"/>
                </a:lnTo>
                <a:cubicBezTo>
                  <a:pt x="12245" y="4421472"/>
                  <a:pt x="13025" y="4335511"/>
                  <a:pt x="14442" y="4243130"/>
                </a:cubicBezTo>
                <a:lnTo>
                  <a:pt x="16801" y="4091152"/>
                </a:lnTo>
                <a:lnTo>
                  <a:pt x="13537" y="4018512"/>
                </a:lnTo>
                <a:lnTo>
                  <a:pt x="17696" y="3920163"/>
                </a:lnTo>
                <a:lnTo>
                  <a:pt x="17841" y="3851812"/>
                </a:lnTo>
                <a:cubicBezTo>
                  <a:pt x="15571" y="3651484"/>
                  <a:pt x="26219" y="3546077"/>
                  <a:pt x="24551" y="3386181"/>
                </a:cubicBezTo>
                <a:lnTo>
                  <a:pt x="24397" y="3379573"/>
                </a:lnTo>
                <a:lnTo>
                  <a:pt x="22173" y="3327681"/>
                </a:lnTo>
                <a:cubicBezTo>
                  <a:pt x="20895" y="3304536"/>
                  <a:pt x="19446" y="3284181"/>
                  <a:pt x="17841" y="3267510"/>
                </a:cubicBezTo>
                <a:cubicBezTo>
                  <a:pt x="8213" y="3167488"/>
                  <a:pt x="-3113" y="2984082"/>
                  <a:pt x="3931" y="2799801"/>
                </a:cubicBezTo>
                <a:lnTo>
                  <a:pt x="4125" y="2797274"/>
                </a:lnTo>
                <a:lnTo>
                  <a:pt x="3717" y="2776150"/>
                </a:lnTo>
                <a:cubicBezTo>
                  <a:pt x="3237" y="2640023"/>
                  <a:pt x="7465" y="2516197"/>
                  <a:pt x="17841" y="2423520"/>
                </a:cubicBezTo>
                <a:cubicBezTo>
                  <a:pt x="20435" y="2400350"/>
                  <a:pt x="22069" y="2375698"/>
                  <a:pt x="22982" y="2349684"/>
                </a:cubicBezTo>
                <a:lnTo>
                  <a:pt x="23157" y="2331991"/>
                </a:lnTo>
                <a:lnTo>
                  <a:pt x="21648" y="2290240"/>
                </a:lnTo>
                <a:cubicBezTo>
                  <a:pt x="18695" y="2240502"/>
                  <a:pt x="15426" y="2193755"/>
                  <a:pt x="14054" y="2150784"/>
                </a:cubicBezTo>
                <a:lnTo>
                  <a:pt x="17291" y="2050968"/>
                </a:lnTo>
                <a:lnTo>
                  <a:pt x="12351" y="1872365"/>
                </a:lnTo>
                <a:cubicBezTo>
                  <a:pt x="11665" y="1799113"/>
                  <a:pt x="12859" y="1722821"/>
                  <a:pt x="17841" y="1644450"/>
                </a:cubicBezTo>
                <a:lnTo>
                  <a:pt x="21169" y="1569934"/>
                </a:lnTo>
                <a:lnTo>
                  <a:pt x="20488" y="1547698"/>
                </a:lnTo>
                <a:cubicBezTo>
                  <a:pt x="19568" y="1516527"/>
                  <a:pt x="18663" y="1483900"/>
                  <a:pt x="17841" y="1449683"/>
                </a:cubicBezTo>
                <a:cubicBezTo>
                  <a:pt x="11271" y="1175953"/>
                  <a:pt x="1415" y="1152151"/>
                  <a:pt x="17841" y="995226"/>
                </a:cubicBezTo>
                <a:lnTo>
                  <a:pt x="19885" y="968921"/>
                </a:lnTo>
                <a:lnTo>
                  <a:pt x="17841" y="930304"/>
                </a:lnTo>
                <a:cubicBezTo>
                  <a:pt x="7442" y="768208"/>
                  <a:pt x="7865" y="285783"/>
                  <a:pt x="17841" y="21390"/>
                </a:cubicBezTo>
                <a:cubicBezTo>
                  <a:pt x="147136" y="10433"/>
                  <a:pt x="296588" y="9602"/>
                  <a:pt x="440468" y="11925"/>
                </a:cubicBezTo>
                <a:lnTo>
                  <a:pt x="473966" y="12726"/>
                </a:lnTo>
                <a:lnTo>
                  <a:pt x="478805" y="12539"/>
                </a:lnTo>
                <a:lnTo>
                  <a:pt x="484496" y="12977"/>
                </a:lnTo>
                <a:lnTo>
                  <a:pt x="648894" y="16905"/>
                </a:lnTo>
                <a:cubicBezTo>
                  <a:pt x="714833" y="18773"/>
                  <a:pt x="776163" y="20559"/>
                  <a:pt x="829667" y="21390"/>
                </a:cubicBezTo>
                <a:lnTo>
                  <a:pt x="916694" y="22693"/>
                </a:lnTo>
                <a:lnTo>
                  <a:pt x="933747" y="21390"/>
                </a:lnTo>
                <a:cubicBezTo>
                  <a:pt x="1086511" y="12604"/>
                  <a:pt x="1591110" y="15003"/>
                  <a:pt x="1863531" y="21390"/>
                </a:cubicBezTo>
                <a:lnTo>
                  <a:pt x="1920387" y="22646"/>
                </a:lnTo>
                <a:lnTo>
                  <a:pt x="2054705" y="24358"/>
                </a:lnTo>
                <a:cubicBezTo>
                  <a:pt x="2107717" y="24456"/>
                  <a:pt x="2161143" y="23719"/>
                  <a:pt x="2217404" y="21390"/>
                </a:cubicBezTo>
                <a:cubicBezTo>
                  <a:pt x="2442445" y="12073"/>
                  <a:pt x="2732199" y="18194"/>
                  <a:pt x="2911273" y="21390"/>
                </a:cubicBezTo>
                <a:lnTo>
                  <a:pt x="3023675" y="20799"/>
                </a:lnTo>
                <a:lnTo>
                  <a:pt x="3093869" y="15816"/>
                </a:lnTo>
                <a:cubicBezTo>
                  <a:pt x="3182922" y="11551"/>
                  <a:pt x="3301373" y="10993"/>
                  <a:pt x="3429365" y="12165"/>
                </a:cubicBezTo>
                <a:lnTo>
                  <a:pt x="3575555" y="14425"/>
                </a:lnTo>
                <a:lnTo>
                  <a:pt x="3605772" y="13210"/>
                </a:lnTo>
                <a:cubicBezTo>
                  <a:pt x="3774503" y="6974"/>
                  <a:pt x="3960371" y="3465"/>
                  <a:pt x="4063093" y="21390"/>
                </a:cubicBezTo>
                <a:lnTo>
                  <a:pt x="4088792" y="24677"/>
                </a:lnTo>
                <a:lnTo>
                  <a:pt x="4129769" y="25744"/>
                </a:lnTo>
                <a:cubicBezTo>
                  <a:pt x="4269845" y="29597"/>
                  <a:pt x="4297423" y="30995"/>
                  <a:pt x="4403088" y="21390"/>
                </a:cubicBezTo>
                <a:cubicBezTo>
                  <a:pt x="4473592" y="10814"/>
                  <a:pt x="4858406" y="-6032"/>
                  <a:pt x="5096956" y="21390"/>
                </a:cubicBezTo>
                <a:lnTo>
                  <a:pt x="5251798" y="27914"/>
                </a:lnTo>
                <a:lnTo>
                  <a:pt x="5332872" y="21390"/>
                </a:lnTo>
                <a:cubicBezTo>
                  <a:pt x="5422885" y="11295"/>
                  <a:pt x="5502187" y="8863"/>
                  <a:pt x="5576462" y="10240"/>
                </a:cubicBezTo>
                <a:lnTo>
                  <a:pt x="5700011" y="17015"/>
                </a:lnTo>
                <a:lnTo>
                  <a:pt x="5761151" y="15143"/>
                </a:lnTo>
                <a:cubicBezTo>
                  <a:pt x="5846776" y="14123"/>
                  <a:pt x="5935566" y="15403"/>
                  <a:pt x="6026740" y="21390"/>
                </a:cubicBezTo>
                <a:lnTo>
                  <a:pt x="6161088" y="29209"/>
                </a:lnTo>
                <a:lnTo>
                  <a:pt x="6262655" y="21390"/>
                </a:lnTo>
                <a:cubicBezTo>
                  <a:pt x="6405549" y="5694"/>
                  <a:pt x="6517747" y="175"/>
                  <a:pt x="6610089" y="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5702881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SketchyVTI</vt:lpstr>
      <vt:lpstr>CLOUD BASED MOVIE STREAMING PLATFORM</vt:lpstr>
      <vt:lpstr>  ABSTRACT</vt:lpstr>
      <vt:lpstr>Introduction</vt:lpstr>
      <vt:lpstr>Literature Review</vt:lpstr>
      <vt:lpstr>Problem Statement </vt:lpstr>
      <vt:lpstr>System Architecture </vt:lpstr>
      <vt:lpstr>Implementation Challenges</vt:lpstr>
      <vt:lpstr>Expected Outcomes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151</cp:revision>
  <dcterms:created xsi:type="dcterms:W3CDTF">2026-03-08T11:50:35Z</dcterms:created>
  <dcterms:modified xsi:type="dcterms:W3CDTF">2026-03-08T19:34:20Z</dcterms:modified>
</cp:coreProperties>
</file>