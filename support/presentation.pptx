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8691A5-EC1D-4F2B-854D-6F45A257F6DF}" v="41" dt="2026-02-08T14:27:52.333"/>
    <p1510:client id="{87A801D1-A169-4F26-8975-E78B562EB799}" v="1465" dt="2026-02-08T08:55:23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train on a snowy road with fireworks in the background&#10;&#10;AI-generated content may be incorrect.">
            <a:extLst>
              <a:ext uri="{FF2B5EF4-FFF2-40B4-BE49-F238E27FC236}">
                <a16:creationId xmlns:a16="http://schemas.microsoft.com/office/drawing/2014/main" id="{803E3B4A-93AE-699F-882A-51D0DF2C0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4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3E1E28-310C-426D-0AA3-0BD0AE995512}"/>
              </a:ext>
            </a:extLst>
          </p:cNvPr>
          <p:cNvSpPr txBox="1"/>
          <p:nvPr/>
        </p:nvSpPr>
        <p:spPr>
          <a:xfrm>
            <a:off x="1722433" y="4476913"/>
            <a:ext cx="37974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             Tanim Ahmed 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  2312597042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F61ABD-CF72-E439-289C-3FAE28CDED79}"/>
              </a:ext>
            </a:extLst>
          </p:cNvPr>
          <p:cNvSpPr txBox="1"/>
          <p:nvPr/>
        </p:nvSpPr>
        <p:spPr>
          <a:xfrm>
            <a:off x="1972562" y="138733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   Nafiz Al Mamun</a:t>
            </a:r>
          </a:p>
          <a:p>
            <a:r>
              <a:rPr lang="en-US" dirty="0">
                <a:solidFill>
                  <a:schemeClr val="bg1"/>
                </a:solidFill>
              </a:rPr>
              <a:t>      2232050642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2F8A5-2EEA-1DA0-4F1D-FB1000F79F9B}"/>
              </a:ext>
            </a:extLst>
          </p:cNvPr>
          <p:cNvSpPr txBox="1"/>
          <p:nvPr/>
        </p:nvSpPr>
        <p:spPr>
          <a:xfrm>
            <a:off x="8048781" y="1271445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Mustakim Ahmed Hasan</a:t>
            </a:r>
          </a:p>
          <a:p>
            <a:r>
              <a:rPr lang="en-US" dirty="0">
                <a:solidFill>
                  <a:schemeClr val="bg1"/>
                </a:solidFill>
              </a:rPr>
              <a:t>            2421349042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178D6D-7995-92D7-E33C-E4F14E628F78}"/>
              </a:ext>
            </a:extLst>
          </p:cNvPr>
          <p:cNvSpPr txBox="1"/>
          <p:nvPr/>
        </p:nvSpPr>
        <p:spPr>
          <a:xfrm>
            <a:off x="8484055" y="4798003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Ahamad Osman Asif</a:t>
            </a:r>
          </a:p>
          <a:p>
            <a:r>
              <a:rPr lang="en-US" dirty="0">
                <a:solidFill>
                  <a:schemeClr val="bg1"/>
                </a:solidFill>
              </a:rPr>
              <a:t>      2031080642</a:t>
            </a:r>
          </a:p>
        </p:txBody>
      </p:sp>
    </p:spTree>
    <p:extLst>
      <p:ext uri="{BB962C8B-B14F-4D97-AF65-F5344CB8AC3E}">
        <p14:creationId xmlns:p14="http://schemas.microsoft.com/office/powerpoint/2010/main" val="172084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5405" y="150312"/>
            <a:ext cx="5492984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rethink Alzheimer's detection?</a:t>
            </a:r>
            <a:b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695" y="1004130"/>
            <a:ext cx="3427001" cy="3908586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l"/>
            <a:r>
              <a:rPr lang="en-US" sz="1800" dirty="0"/>
              <a:t>Alzheimer's detection (AD) causes progressive brain degeneration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MRI is widely used but data is 3D, complex and subtle. Also manual analysis is slow and expert dependent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Classical deep CNNs achieve high accuracy BUT require millions of parameters, heavy computation and large datasets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Question arises: Can we detect AD using far few parameters and a lighter model?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5" name="Picture 4" descr="A pink brain with white text&#10;&#10;AI-generated content may be incorrect.">
            <a:extLst>
              <a:ext uri="{FF2B5EF4-FFF2-40B4-BE49-F238E27FC236}">
                <a16:creationId xmlns:a16="http://schemas.microsoft.com/office/drawing/2014/main" id="{BA12104D-7730-F373-1034-0DBFAA88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363511"/>
            <a:ext cx="6155141" cy="41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E1B9A-8F19-4D9F-E3A9-FB5960D8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The core idea about CQ-CNN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922E-1374-7FBD-454D-480D04A98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29" y="2198362"/>
            <a:ext cx="5732171" cy="39850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/>
              <a:t>A lightweight hybrid classical quantum model convert 3D MRI to 2D informative slices where there are axial, coronal and sagittal views which avoids heavy 3D CNNs.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It uses a compact classical CNN for feature selection</a:t>
            </a:r>
          </a:p>
          <a:p>
            <a:pPr marL="0" indent="0">
              <a:buNone/>
            </a:pPr>
            <a:r>
              <a:rPr lang="en-US" sz="1800" dirty="0"/>
              <a:t>It replaces the final classifier with a parameterized quantum circuit (PQC)</a:t>
            </a: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This creates a CQ-CNN, where a classical CNN acts as the feature extractor and a quantum circuit serves as a compact, expressive decision maker</a:t>
            </a: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/>
              <a:t>Main goal is high accuracy with extreme parameter efficiency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5CD19655-0DB0-FEBE-ED70-85A0D5EE8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482665"/>
            <a:ext cx="4788505" cy="3160412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5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CC918-B320-E33B-D2D0-8D664B69A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/>
              <a:t>How the quantum part works?</a:t>
            </a:r>
          </a:p>
        </p:txBody>
      </p:sp>
      <p:pic>
        <p:nvPicPr>
          <p:cNvPr id="4" name="Picture 3" descr="A person standing next to a machine&#10;&#10;AI-generated content may be incorrect.">
            <a:extLst>
              <a:ext uri="{FF2B5EF4-FFF2-40B4-BE49-F238E27FC236}">
                <a16:creationId xmlns:a16="http://schemas.microsoft.com/office/drawing/2014/main" id="{A9624836-C488-4206-7DF6-3BE1E7876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43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F1D8D-81E3-9A52-F815-56D63177A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What does quantum layer actually do?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CNN features are mapped to qubits</a:t>
            </a:r>
          </a:p>
          <a:p>
            <a:pPr marL="0" indent="0">
              <a:buNone/>
            </a:pPr>
            <a:r>
              <a:rPr lang="en-US" sz="1600" dirty="0"/>
              <a:t>Features encoded using </a:t>
            </a:r>
            <a:r>
              <a:rPr lang="en-US" sz="1600" dirty="0" err="1"/>
              <a:t>ZZFeatureMap</a:t>
            </a:r>
            <a:r>
              <a:rPr lang="en-US" sz="1600" dirty="0"/>
              <a:t> which introduces entanglement and captures complex feature relationships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dirty="0"/>
              <a:t>A small trainable quantum circuit of 2-3qubits learns non-linear decision boundaries and optimized using classical descent(Adam)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dirty="0"/>
              <a:t>Measurement replacement </a:t>
            </a:r>
            <a:r>
              <a:rPr lang="en-US" sz="1600" dirty="0" err="1"/>
              <a:t>softmax</a:t>
            </a:r>
            <a:r>
              <a:rPr lang="en-US" sz="1600" dirty="0"/>
              <a:t> output class probabilities directly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 dirty="0"/>
              <a:t>Quantum layer adds representational power, not noise or hype </a:t>
            </a: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914400" lvl="2" indent="0">
              <a:buNone/>
            </a:pPr>
            <a:r>
              <a:rPr lang="en-US" sz="1600" dirty="0">
                <a:latin typeface="Segoe UI"/>
                <a:cs typeface="Segoe UI"/>
              </a:rPr>
              <a:t> </a:t>
            </a:r>
            <a:endParaRPr lang="en-US" sz="1600" dirty="0"/>
          </a:p>
          <a:p>
            <a:pPr marL="914400" lvl="2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0281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FA82DD-0833-49DC-EB9B-8C2770425F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7" r="7878" b="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A0140-59E2-4F5D-4521-A3BC6ABF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What worked VS what didn't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A105C-4F25-4594-AC77-DF9D70949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Best model: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2-qubit CQ-CNN (3-plane MRI)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≈ 97.5% accuracy</a:t>
            </a:r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Only ~13.7K parameters (~0.05 MB)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Comparable to state-of-the-art CNNs using </a:t>
            </a:r>
            <a:r>
              <a:rPr lang="en-US" sz="1300" b="1">
                <a:ea typeface="+mn-lt"/>
                <a:cs typeface="+mn-lt"/>
              </a:rPr>
              <a:t>millions of parameters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Critical insights: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Small quantum circuits help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More qubits often hurt (instability, long training)</a:t>
            </a:r>
          </a:p>
          <a:p>
            <a:pPr marL="971550" lvl="1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Quantum models struggle when classes are extremely similar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Control experiments (MNIST):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Stable convergence  proves issues are </a:t>
            </a:r>
            <a:r>
              <a:rPr lang="en-US" sz="1300" b="1">
                <a:ea typeface="+mn-lt"/>
                <a:cs typeface="+mn-lt"/>
              </a:rPr>
              <a:t>data-driven</a:t>
            </a:r>
            <a:r>
              <a:rPr lang="en-US" sz="1300">
                <a:ea typeface="+mn-lt"/>
                <a:cs typeface="+mn-lt"/>
              </a:rPr>
              <a:t>, not architectural</a:t>
            </a:r>
            <a:endParaRPr lang="en-US" sz="1300"/>
          </a:p>
          <a:p>
            <a:pPr marL="0" indent="0"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8050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02895-9461-7E77-CBDB-154054D1D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787" y="-262404"/>
            <a:ext cx="7047568" cy="1807305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THE PROBLEM STATEMENT</a:t>
            </a:r>
            <a:endParaRPr lang="en-US"/>
          </a:p>
        </p:txBody>
      </p:sp>
      <p:pic>
        <p:nvPicPr>
          <p:cNvPr id="6" name="Picture 5" descr="A person holding a clipboard and pointing at a question mark&#10;&#10;AI-generated content may be incorrect.">
            <a:extLst>
              <a:ext uri="{FF2B5EF4-FFF2-40B4-BE49-F238E27FC236}">
                <a16:creationId xmlns:a16="http://schemas.microsoft.com/office/drawing/2014/main" id="{CDC7A7D3-2CC0-FD11-3180-AB86F307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7" r="12869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BED2E-C6A5-AABF-D1CA-5671FEDB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4700" y="1167886"/>
            <a:ext cx="6083862" cy="38436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Alzheimer’s Disease (AD) is a progressive neurodegenerative disorder that causes memory loss and cognitive decline, making </a:t>
            </a:r>
            <a:r>
              <a:rPr lang="en-US" sz="1800" b="1" dirty="0">
                <a:ea typeface="+mn-lt"/>
                <a:cs typeface="+mn-lt"/>
              </a:rPr>
              <a:t>early and accurate detection critical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0" indent="0">
              <a:buFont typeface="Arial"/>
              <a:buNone/>
            </a:pPr>
            <a:r>
              <a:rPr lang="en-US" sz="1800" dirty="0">
                <a:ea typeface="+mn-lt"/>
                <a:cs typeface="+mn-lt"/>
              </a:rPr>
              <a:t>MRI is a powerful imaging modality for AD diagnosis, but </a:t>
            </a:r>
            <a:r>
              <a:rPr lang="en-US" sz="1800" b="1" dirty="0">
                <a:ea typeface="+mn-lt"/>
                <a:cs typeface="+mn-lt"/>
              </a:rPr>
              <a:t>MRI data is inherently 3D, complex, and computationally demanding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Existing deep learning approaches, especially </a:t>
            </a:r>
            <a:r>
              <a:rPr lang="en-US" sz="1800" b="1" dirty="0">
                <a:ea typeface="+mn-lt"/>
                <a:cs typeface="+mn-lt"/>
              </a:rPr>
              <a:t>3D CNNs, </a:t>
            </a:r>
            <a:r>
              <a:rPr lang="en-US" sz="1800" dirty="0">
                <a:ea typeface="+mn-lt"/>
                <a:cs typeface="+mn-lt"/>
              </a:rPr>
              <a:t>achieve high accuracy but suffer from: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Extremely large numbers of parameters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High computational and memory costs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Dependence on large, well-annotated datasets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These limitations reduce </a:t>
            </a:r>
            <a:r>
              <a:rPr lang="en-US" sz="1800" b="1" dirty="0">
                <a:ea typeface="+mn-lt"/>
                <a:cs typeface="+mn-lt"/>
              </a:rPr>
              <a:t>practical deploy ability</a:t>
            </a:r>
            <a:r>
              <a:rPr lang="en-US" sz="1800" dirty="0">
                <a:ea typeface="+mn-lt"/>
                <a:cs typeface="+mn-lt"/>
              </a:rPr>
              <a:t> in real-world clinical settings.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Research Gap: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1800" b="1" dirty="0">
                <a:ea typeface="+mn-lt"/>
                <a:cs typeface="+mn-lt"/>
              </a:rPr>
              <a:t>Can Alzheimer’s Disease be detected accurately and efficiently</a:t>
            </a:r>
            <a:r>
              <a:rPr lang="en-US" sz="1800" dirty="0">
                <a:ea typeface="+mn-lt"/>
                <a:cs typeface="+mn-lt"/>
              </a:rPr>
              <a:t> from MRI data using a </a:t>
            </a:r>
            <a:r>
              <a:rPr lang="en-US" sz="1800" b="1" dirty="0">
                <a:ea typeface="+mn-lt"/>
                <a:cs typeface="+mn-lt"/>
              </a:rPr>
              <a:t>lighter, parameter-efficient model</a:t>
            </a:r>
            <a:r>
              <a:rPr lang="en-US" sz="1800" dirty="0">
                <a:ea typeface="+mn-lt"/>
                <a:cs typeface="+mn-lt"/>
              </a:rPr>
              <a:t> without sacrificing performance?</a:t>
            </a:r>
            <a:endParaRPr lang="en-US" sz="1800" dirty="0"/>
          </a:p>
          <a:p>
            <a:pPr>
              <a:buNone/>
            </a:pPr>
            <a:endParaRPr lang="en-US" sz="1000" b="1"/>
          </a:p>
          <a:p>
            <a:pPr marL="0" indent="0">
              <a:buNone/>
            </a:pPr>
            <a:endParaRPr lang="en-US" sz="1000" b="1"/>
          </a:p>
          <a:p>
            <a:endParaRPr lang="en-US" sz="1000" b="1"/>
          </a:p>
        </p:txBody>
      </p:sp>
    </p:spTree>
    <p:extLst>
      <p:ext uri="{BB962C8B-B14F-4D97-AF65-F5344CB8AC3E}">
        <p14:creationId xmlns:p14="http://schemas.microsoft.com/office/powerpoint/2010/main" val="424870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lose up of a thank you sign&#10;&#10;AI-generated content may be incorrect.">
            <a:extLst>
              <a:ext uri="{FF2B5EF4-FFF2-40B4-BE49-F238E27FC236}">
                <a16:creationId xmlns:a16="http://schemas.microsoft.com/office/drawing/2014/main" id="{1A08DD10-5E60-A808-E3C6-63F3B91BF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25" r="1" b="1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56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Why rethink Alzheimer's detection? </vt:lpstr>
      <vt:lpstr>The core idea about CQ-CNN</vt:lpstr>
      <vt:lpstr>How the quantum part works?</vt:lpstr>
      <vt:lpstr>What worked VS what didn't</vt:lpstr>
      <vt:lpstr>THE PROBLEM STATEMENT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348</cp:revision>
  <dcterms:created xsi:type="dcterms:W3CDTF">2026-02-08T02:58:22Z</dcterms:created>
  <dcterms:modified xsi:type="dcterms:W3CDTF">2026-02-08T14:28:20Z</dcterms:modified>
</cp:coreProperties>
</file>